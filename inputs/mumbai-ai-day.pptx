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on stage in silence. Three-second pause before speaking. The pause is non-negotiable.</a:t>
            </a:r>
          </a:p>
          <a:p/>
          <a:p>
            <a:r>
              <a:t>"My developers are three times faster with Copilot. My CISO is three times more nervous."</a:t>
            </a:r>
          </a:p>
          <a:p/>
          <a:p>
            <a:r>
              <a:t>A few weeks ago, the Head of Engineering at a large Indian bank — one many of you in this room work with or compete with — said this to me over coffee. He was not complaining. He was naming something. And that sentence is why this session exists.</a:t>
            </a:r>
          </a:p>
          <a:p/>
          <a:p>
            <a:r>
              <a:t>Coaching:</a:t>
            </a:r>
          </a:p>
          <a:p>
            <a:r>
              <a:t>- "is why this session exists" — do not soften to "is one reason."</a:t>
            </a:r>
          </a:p>
          <a:p>
            <a:r>
              <a:t>- If generalizing the anecdote: change "said this to me over coffee" to "described to me recently."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Click to Slide 2.</a:t>
            </a:r>
          </a:p>
          <a:p/>
          <a:p>
            <a:r>
              <a:t>Your tools turned agentic. Your org chart didn't.</a:t>
            </a:r>
          </a:p>
          <a:p/>
          <a:p>
            <a:r>
              <a:t>That is the gap. It is not unique to that bank. And it is the most expensive thing happening in Indian BFSI engineering right now.</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to Slide 3 — speaker frame.</a:t>
            </a:r>
          </a:p>
          <a:p/>
          <a:p>
            <a:r>
              <a:t>My name is Shailesh Kumar Mishra. I lead an open-source project called git-ape. I built it because every customer conversation kept arriving at the same problem — great AI prototypes that take six months to ship, or never ship at all. I am going to tell you why that happens and what to do about it.</a:t>
            </a:r>
          </a:p>
          <a:p/>
          <a:p>
            <a:r>
              <a:t>I have forty minutes. I am going to give you three things: a sharper way to name the gap, the methodology that closes it, and one Monday step. If you leave with all three, this session worked.</a:t>
            </a:r>
          </a:p>
          <a:p/>
          <a:p>
            <a:r>
              <a:t>Coaching:</a:t>
            </a:r>
          </a:p>
          <a:p>
            <a:r>
              <a:t>- Should sound like a contract being made. Crisp. Not friendly.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did not just speed up coding. It moved the bottleneck. Execution is now cheap. Judgment is now expensive. And your existing process was built for the previous bottleneck.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these ceremonies exists for a reason. The reason was execution-bottleneck risk. A sprint is a batching mechanism. A PR review queue is a serialization point. A standup is a coordination tax. They were the right answer when execution was slow. They are the wrong answer now.</a:t>
            </a:r>
          </a:p>
          <a:p/>
          <a:p>
            <a:r>
              <a:t>This is not about being anti-process. It is about asking which processes still earn their seat. Most do not.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SDLC most of your teams still run. PM writes a ticket. SWE picks it up. Reviewer queues a PR. QA hands off. Approval chain. Release sign-off. Every arrow is a human handoff, and every handoff is a queue.</a:t>
            </a:r>
          </a:p>
          <a:p/>
          <a:p>
            <a:r>
              <a:t>On the right is the agentic SDLC. Intent gets encoded as a spec. An agent generates the implementation. Policy-as-code validates it. It deploys under that policy. The human review queue, as a default step, goes away. That is not a small change. That is the change.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Long pause after.</a:t>
            </a:r>
          </a:p>
          <a:p/>
          <a:p>
            <a:r>
              <a:t>You have done this before.</a:t>
            </a:r>
          </a:p>
          <a:p/>
          <a:p>
            <a:r>
              <a:t>Coaching: do not move on quickly. Let the room sit with the sentence for at least four seconds. The next slide tells them where.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1985 the trading floor was open outcry. Humans shouting orders, executing in real time. By 2010, that same floor was algorithms. Not because traders disappeared. Because their judgment was encoded into risk-limit specifications. The humans moved up the stack — from making each trade to defining what trades were allowed.</a:t>
            </a:r>
          </a:p>
          <a:p/>
          <a:p>
            <a:r>
              <a:t>That is the move you are about to make in engineering. The agent does not replace the engineer. The engineer's judgment gets encoded, once, into the spec the agent operates under.</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inside your engineering organizations, you have done this already. Step by step. Senior reviewer checklists became linters. Linters became SAST. SAST became policy-as-code. Each step encoded one slice of reviewer judgment so the reviewer could spend attention on what still needed a human.</a:t>
            </a:r>
          </a:p>
          <a:p/>
          <a:p>
            <a:r>
              <a:t>AIDLC is the next step in that same line. It is not a new philosophy. It is the next link.</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AIDLC is four stages. Intent — what we want. Specification — what that means precisely. Agent reasoning — the agent works out an implementation. Validation and production — the work lands under encoded controls.</a:t>
            </a:r>
          </a:p>
          <a:p/>
          <a:p>
            <a:r>
              <a:t>Humans show up in two places. They encode at the front, and they validate at the back. Everything in the middle is the agent. The measure of an AIDLC organization is not how much it automates. It is how much of its human intent has been encoded once. That is the number worth tracking.</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question. Pause. Look around the room.</a:t>
            </a:r>
          </a:p>
          <a:p/>
          <a:p>
            <a:r>
              <a:t>What is a valid offer? In your bank, where does this knowledge live today? Tribal memory in three senior people. A 40-page underwriting policy nobody reads. Tickets in a system that does not know it is a policy.</a:t>
            </a:r>
          </a:p>
          <a:p/>
          <a:p>
            <a:r>
              <a:t>That answer is the problem. Watch what happens when we make it the input instead.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demo — Beat 1, roughly 3 minutes. Plays unedited.</a:t>
            </a:r>
          </a:p>
          <a:p/>
          <a:p>
            <a:r>
              <a:t>The demo shows: domain expert in conversation with the agent, encoding the underwriting policy into a runnable specification. The artifact at the end is not a document. It is something the system can execute.</a:t>
            </a:r>
          </a:p>
          <a:p/>
          <a:p>
            <a:r>
              <a:t>If video fails: skip to Slide 13. The point of the beat is what is on Slide 13. The video is illustration.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Hold.</a:t>
            </a:r>
          </a:p>
          <a:p/>
          <a:p>
            <a:r>
              <a:t>Tribal memory → Structured spec. That is the move.</a:t>
            </a:r>
          </a:p>
          <a:p/>
          <a:p>
            <a:r>
              <a:t>Coaching: do not explain it further. The demo just did. Pause four seconds, then advance.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objection to everything I have said so far is: real banking systems are messy. They have ambiguity. They have edge cases. They have business judgment that has not been written down because nobody could write it down.</a:t>
            </a:r>
          </a:p>
          <a:p/>
          <a:p>
            <a:r>
              <a:t>Fair. Now watch where the human shows up in the loop when the agent hits something it cannot resolve.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demo — Beat 2, roughly 4 minutes.</a:t>
            </a:r>
          </a:p>
          <a:p/>
          <a:p>
            <a:r>
              <a:t>The demo shows: agent hits an ambiguous case in the spec, escalates to a human reviewer, reviewer makes one decision, and — critically — that decision gets fed back as an addition to the spec. So the next time the same ambiguity arises, the agent already knows.</a:t>
            </a:r>
          </a:p>
          <a:p/>
          <a:p>
            <a:r>
              <a:t>Notice the human did not write code. They wrote a rule. Once.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what just happened on screen. The agent did the reasoning. The human did not. The human checked the reasoning, decided, and moved on. That moment is the new shape of the job.</a:t>
            </a:r>
          </a:p>
          <a:p/>
          <a:p>
            <a:r>
              <a:t>I want to be honest with you, because the rest of this talk depends on you trusting me. Your roles will change. Not be replaced. Mutate. Your product managers become workflow orchestrators. Your senior engineers become spec authors. Your reviewers become validators of agent reasoning. Your designers — and this surprises people — become communication architects for human-agent collaboration.</a:t>
            </a:r>
          </a:p>
          <a:p/>
          <a:p>
            <a:r>
              <a:t>This is the part of the talk that is uncomfortable, and I am not going to pretend otherwise. The job gets more interesting. It also gets harder cognitively. Pretending it stays the same wastes your time, and it wastes your team's time when you go back to office on Monday.</a:t>
            </a:r>
          </a:p>
          <a:p/>
          <a:p>
            <a:r>
              <a:t>Coaching: Slow down. "Mutate" first, "Not replaced" second.</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your CRO and your CISO are asking right now, whether you are in the room or not. What is allowed to reach production?</a:t>
            </a:r>
          </a:p>
          <a:p/>
          <a:p>
            <a:r>
              <a:t>In the old SDLC, the answer was: whatever made it through the human review queue. That answer is gone. We need a new one. Watch.</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demo — Beat 3, roughly 3 minutes.</a:t>
            </a:r>
          </a:p>
          <a:p/>
          <a:p>
            <a:r>
              <a:t>The demo shows: agent proposes a change. Policy-as-code evaluates it against encoded RBI controls — data residency, audit trail, change approval, segregation of duties. The policy gate decides what reaches production. The human is on the policy, not on every change.</a:t>
            </a:r>
          </a:p>
          <a:p/>
          <a:p>
            <a:r>
              <a:t>This is the answer to the CRO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encoding executes itself.</a:t>
            </a:r>
          </a:p>
          <a:p/>
          <a:p>
            <a:r>
              <a:t>Once your controls are policy-as-code, the gate is not a meeting. It is a check. The check runs on every change. It does not get tired, it does not skip, it does not get social-engineered. Pause two beats, then move into git-ape.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slowly. Let it sit.</a:t>
            </a:r>
          </a:p>
          <a:p/>
          <a:p>
            <a:r>
              <a:t>How do you tell your CRO this is safe?</a:t>
            </a:r>
          </a:p>
          <a:p/>
          <a:p>
            <a:r>
              <a:t>This is the slide where executives lean forward. It is also the slide where engineers usually have no answer. The next slide is the answer.</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tell them with policy-as-code. You tell them by showing the controls are encoded, the gates run on every change, and every action emits an audit trail you can hand to RBI tomorrow.</a:t>
            </a:r>
          </a:p>
          <a:p/>
          <a:p>
            <a:r>
              <a:t>git-ape is one way to build that substrate. It is open source — link is on the resources slide. I am not selling it to you. I am telling you the substrate exists, in BFSI-shaped form, and you can pick it up Monday.</a:t>
            </a:r>
          </a:p>
          <a:p/>
          <a:p>
            <a:r>
              <a:t>Coaching: do not over-sell. The talk is about AIDLC. git-ape is the worked example.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This is the slide your CRO will photograph. RBI and SEBI obligations do not change in agentic delivery — they just move shape. Audit trail is no longer a log you review after an incident; it is emitted by the system on every agent action. Change approval is no longer a CAB ticket queue; it is a policy attached to the PR that auto-blocks violations. Data residency is no longer an architecture review meeting; it is a constraint declared in the deploy spec and enforced at the CI gate.</a:t>
            </a:r>
          </a:p>
          <a:p/>
          <a:p>
            <a:r>
              <a:t>Same controls. Encoded once. Enforced on every change.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Five days. One real use case from your bank. You leave with a working prototype under your own controls.</a:t>
            </a:r>
          </a:p>
          <a:p/>
          <a:p>
            <a:r>
              <a:t>Bring three engineers, one product manager, one risk officer. That last person is non-negotiable. If risk is not in the room on day one, the workshop produces a demo. If risk is in the room on day one, the workshop produces a foundation. We are not selling demos.</a:t>
            </a:r>
          </a:p>
          <a:p/>
          <a:p>
            <a:r>
              <a:t>QR code on Slide 25.</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Ninety days from today, this is what shipped looks like. Days one to five: workshop. Days five to thirty: your team iterates on what you built, on your own infra. Days thirty to sixty: pilot git-ape — or whatever substrate you choose — on that workflow. Days sixty to ninety: first production agent running under encoded policy.</a:t>
            </a:r>
          </a:p>
          <a:p/>
          <a:p>
            <a:r>
              <a:t>Not all of engineering. One workflow. One team. Done end-to-end. After that, you have a pattern your other teams can copy.</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Two ways. Left QR: AIDLC Workshop request form — fill it in, my team gets back to you within a week. Right QR: git-ape on GitHub — open source, clone it, try it on a non-production workflow tonight.</a:t>
            </a:r>
          </a:p>
          <a:p/>
          <a:p>
            <a:r>
              <a:t>No middle option. Either you want a guided five-day starting point, or you want to read code. Both are good. Pick one before you leave the venue.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Four quadrants. DORA — deploys, lead time, change fail rate, MTTR — that is your floor. Necessary, not sufficient.</a:t>
            </a:r>
          </a:p>
          <a:p/>
          <a:p>
            <a:r>
              <a:t>Trust and quality is your post-incident rate, your policy violation rate, your audit findings. Talent and happiness is your engineering retention and your "would you recommend this team" score. Collaboration at scale is how often a spec written by one team gets reused by another without a meeting.</a:t>
            </a:r>
          </a:p>
          <a:p/>
          <a:p>
            <a:r>
              <a:t>If you only measure DORA, you will optimize for shipping fast. Three of these four are about whether you should have shipped at all.</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We started here. A CIO of a top-five Indian bank said this to me. Three times faster. Three times more nervous.</a:t>
            </a:r>
          </a:p>
          <a:p/>
          <a:p>
            <a:r>
              <a:t>We are not going back. Copilot is not going away. The shape of the work has changed.</a:t>
            </a:r>
          </a:p>
          <a:p/>
          <a:p>
            <a:r>
              <a:t>The question is not whether agents will write your code. They already are. The question is whether you have encoded the controls — once, in policy-as-code — so that what reaches production is what your CRO can defend on Monday morning.</a:t>
            </a:r>
          </a:p>
          <a:p/>
          <a:p>
            <a:r>
              <a:t>That is AIDLC. That is the work. Build it. Thank you.</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Name, role, two QR codes — workshop request on the left, git-ape repo on the right. Find me right after; the customer panel starts in two minutes, so be quick.</a:t>
            </a:r>
          </a:p>
          <a:p/>
          <a:p>
            <a:r>
              <a:t>Thank you.</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1097280" y="2377440"/>
            <a:ext cx="9997135" cy="2103120"/>
          </a:xfrm>
          <a:prstGeom prst="rect">
            <a:avLst/>
          </a:prstGeom>
          <a:noFill/>
        </p:spPr>
        <p:txBody>
          <a:bodyPr wrap="square" anchor="ctr">
            <a:spAutoFit/>
          </a:bodyPr>
          <a:lstStyle/>
          <a:p>
            <a:pPr algn="ctr"/>
            <a:r>
              <a:rPr sz="3600" b="0" i="1">
                <a:solidFill>
                  <a:srgbClr val="FFFFFF"/>
                </a:solidFill>
                <a:latin typeface="Georgia"/>
              </a:rPr>
              <a:t>“My developers are three times faster with Copilot. My CISO is three times more nervous.”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2194560"/>
            <a:ext cx="10728655" cy="2560320"/>
          </a:xfrm>
          <a:prstGeom prst="rect">
            <a:avLst/>
          </a:prstGeom>
          <a:noFill/>
        </p:spPr>
        <p:txBody>
          <a:bodyPr wrap="square" anchor="ctr">
            <a:spAutoFit/>
          </a:bodyPr>
          <a:lstStyle/>
          <a:p>
            <a:pPr algn="ctr">
              <a:lnSpc>
                <a:spcPts val="6400"/>
              </a:lnSpc>
            </a:pPr>
            <a:r>
              <a:rPr sz="5400" b="1" i="0">
                <a:solidFill>
                  <a:srgbClr val="FFFFFF"/>
                </a:solidFill>
                <a:latin typeface="Helvetica"/>
              </a:rPr>
              <a:t>YOUR TOOLS TURNED AGENTIC.</a:t>
            </a:r>
          </a:p>
          <a:p>
            <a:pPr algn="ctr">
              <a:lnSpc>
                <a:spcPts val="6400"/>
              </a:lnSpc>
            </a:pPr>
            <a:r>
              <a:rPr sz="5400" b="1" i="0">
                <a:solidFill>
                  <a:srgbClr val="FFFFFF"/>
                </a:solidFill>
                <a:latin typeface="Helvetica"/>
              </a:rPr>
              <a:t>YOUR ORG CHART DIDN'T.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48640"/>
            <a:ext cx="6858000" cy="548640"/>
          </a:xfrm>
          <a:prstGeom prst="rect">
            <a:avLst/>
          </a:prstGeom>
          <a:noFill/>
        </p:spPr>
        <p:txBody>
          <a:bodyPr wrap="square">
            <a:spAutoFit/>
          </a:bodyPr>
          <a:lstStyle/>
          <a:p>
            <a:r>
              <a:rPr sz="2200" b="1" i="0">
                <a:solidFill>
                  <a:srgbClr val="1A1A1A"/>
                </a:solidFill>
                <a:latin typeface="Helvetica"/>
              </a:rPr>
              <a:t>Shailesh Kumar Mishra</a:t>
            </a:r>
          </a:p>
        </p:txBody>
      </p:sp>
      <p:sp>
        <p:nvSpPr>
          <p:cNvPr id="3" name="TextBox 2"/>
          <p:cNvSpPr txBox="1"/>
          <p:nvPr/>
        </p:nvSpPr>
        <p:spPr>
          <a:xfrm>
            <a:off x="548640" y="1051560"/>
            <a:ext cx="6858000" cy="411480"/>
          </a:xfrm>
          <a:prstGeom prst="rect">
            <a:avLst/>
          </a:prstGeom>
          <a:noFill/>
        </p:spPr>
        <p:txBody>
          <a:bodyPr wrap="square">
            <a:spAutoFit/>
          </a:bodyPr>
          <a:lstStyle/>
          <a:p>
            <a:r>
              <a:rPr sz="1400" b="0" i="0">
                <a:solidFill>
                  <a:srgbClr val="5A5A5A"/>
                </a:solidFill>
                <a:latin typeface="Helvetica"/>
              </a:rPr>
              <a:t>Lead, git-ape (open source)</a:t>
            </a:r>
          </a:p>
        </p:txBody>
      </p:sp>
      <p:sp>
        <p:nvSpPr>
          <p:cNvPr id="4" name="TextBox 3"/>
          <p:cNvSpPr txBox="1"/>
          <p:nvPr/>
        </p:nvSpPr>
        <p:spPr>
          <a:xfrm>
            <a:off x="8229600" y="548640"/>
            <a:ext cx="3413455" cy="640080"/>
          </a:xfrm>
          <a:prstGeom prst="rect">
            <a:avLst/>
          </a:prstGeom>
          <a:noFill/>
        </p:spPr>
        <p:txBody>
          <a:bodyPr wrap="square">
            <a:spAutoFit/>
          </a:bodyPr>
          <a:lstStyle/>
          <a:p>
            <a:pPr algn="r"/>
            <a:r>
              <a:rPr sz="2800" b="1" i="0">
                <a:solidFill>
                  <a:srgbClr val="0E5E6E"/>
                </a:solidFill>
                <a:latin typeface="Helvetica"/>
              </a:rPr>
              <a:t>git-ape</a:t>
            </a:r>
          </a:p>
        </p:txBody>
      </p:sp>
      <p:sp>
        <p:nvSpPr>
          <p:cNvPr id="5" name="TextBox 4"/>
          <p:cNvSpPr txBox="1"/>
          <p:nvPr/>
        </p:nvSpPr>
        <p:spPr>
          <a:xfrm>
            <a:off x="914400" y="2743200"/>
            <a:ext cx="10362895" cy="3017520"/>
          </a:xfrm>
          <a:prstGeom prst="rect">
            <a:avLst/>
          </a:prstGeom>
          <a:noFill/>
        </p:spPr>
        <p:txBody>
          <a:bodyPr wrap="square">
            <a:spAutoFit/>
          </a:bodyPr>
          <a:lstStyle/>
          <a:p>
            <a:pPr algn="l">
              <a:lnSpc>
                <a:spcPts val="3800"/>
              </a:lnSpc>
            </a:pPr>
            <a:r>
              <a:rPr sz="2400" b="0" i="0">
                <a:solidFill>
                  <a:srgbClr val="1A1A1A"/>
                </a:solidFill>
                <a:latin typeface="Helvetica"/>
              </a:rPr>
              <a:t>In the next 40 minutes, three things:</a:t>
            </a:r>
          </a:p>
          <a:p>
            <a:pPr algn="l">
              <a:lnSpc>
                <a:spcPts val="3800"/>
              </a:lnSpc>
            </a:pPr>
            <a:r>
              <a:rPr sz="2400" b="0" i="0">
                <a:solidFill>
                  <a:srgbClr val="1A1A1A"/>
                </a:solidFill>
                <a:latin typeface="Helvetica"/>
              </a:rPr>
              <a:t/>
            </a:r>
          </a:p>
          <a:p>
            <a:pPr algn="l" marL="228600" indent="-228600">
              <a:lnSpc>
                <a:spcPts val="3800"/>
              </a:lnSpc>
              <a:buAutoNum type="arabicPeriod" startAt="1"/>
            </a:pPr>
            <a:r>
              <a:rPr sz="2400" b="0" i="0">
                <a:solidFill>
                  <a:srgbClr val="1A1A1A"/>
                </a:solidFill>
                <a:latin typeface="Helvetica"/>
              </a:rPr>
              <a:t>A sharper way to name the gap.</a:t>
            </a:r>
          </a:p>
          <a:p>
            <a:pPr algn="l" marL="228600" indent="-228600">
              <a:lnSpc>
                <a:spcPts val="3800"/>
              </a:lnSpc>
              <a:buAutoNum type="arabicPeriod" startAt="2"/>
            </a:pPr>
            <a:r>
              <a:rPr sz="2400" b="0" i="0">
                <a:solidFill>
                  <a:srgbClr val="1A1A1A"/>
                </a:solidFill>
                <a:latin typeface="Helvetica"/>
              </a:rPr>
              <a:t>The methodology that closes it.</a:t>
            </a:r>
          </a:p>
          <a:p>
            <a:pPr algn="l" marL="228600" indent="-228600">
              <a:lnSpc>
                <a:spcPts val="3800"/>
              </a:lnSpc>
              <a:buAutoNum type="arabicPeriod" startAt="3"/>
            </a:pPr>
            <a:r>
              <a:rPr sz="2400" b="0" i="0">
                <a:solidFill>
                  <a:srgbClr val="1A1A1A"/>
                </a:solidFill>
                <a:latin typeface="Helvetica"/>
              </a:rPr>
              <a:t>One Monday step.</a:t>
            </a:r>
          </a:p>
          <a:p>
            <a:pPr algn="l">
              <a:lnSpc>
                <a:spcPts val="3800"/>
              </a:lnSpc>
            </a:pPr>
            <a:r>
              <a:rPr sz="2400" b="0" i="0">
                <a:solidFill>
                  <a:srgbClr val="1A1A1A"/>
                </a:solidFill>
                <a:latin typeface="Helvetica"/>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The bottleneck moved.</a:t>
            </a:r>
          </a:p>
        </p:txBody>
      </p:sp>
      <p:sp>
        <p:nvSpPr>
          <p:cNvPr id="3" name="TextBox 2"/>
          <p:cNvSpPr txBox="1"/>
          <p:nvPr/>
        </p:nvSpPr>
        <p:spPr>
          <a:xfrm>
            <a:off x="731520" y="1554480"/>
            <a:ext cx="5212080" cy="365760"/>
          </a:xfrm>
          <a:prstGeom prst="rect">
            <a:avLst/>
          </a:prstGeom>
          <a:noFill/>
        </p:spPr>
        <p:txBody>
          <a:bodyPr wrap="square">
            <a:spAutoFit/>
          </a:bodyPr>
          <a:lstStyle/>
          <a:p>
            <a:pPr algn="ctr"/>
            <a:r>
              <a:rPr sz="1600" b="0" i="0">
                <a:solidFill>
                  <a:srgbClr val="5A5A5A"/>
                </a:solidFill>
                <a:latin typeface="Helvetica"/>
              </a:rPr>
              <a:t>2022</a:t>
            </a:r>
          </a:p>
        </p:txBody>
      </p:sp>
      <p:sp>
        <p:nvSpPr>
          <p:cNvPr id="4" name="Rectangle 3"/>
          <p:cNvSpPr/>
          <p:nvPr/>
        </p:nvSpPr>
        <p:spPr>
          <a:xfrm>
            <a:off x="1783080" y="2194560"/>
            <a:ext cx="1280160" cy="3200400"/>
          </a:xfrm>
          <a:prstGeom prst="rect">
            <a:avLst/>
          </a:prstGeom>
          <a:solidFill>
            <a:srgbClr val="0E5E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280160" y="5486400"/>
            <a:ext cx="2286000" cy="365760"/>
          </a:xfrm>
          <a:prstGeom prst="rect">
            <a:avLst/>
          </a:prstGeom>
          <a:noFill/>
        </p:spPr>
        <p:txBody>
          <a:bodyPr wrap="square">
            <a:spAutoFit/>
          </a:bodyPr>
          <a:lstStyle/>
          <a:p>
            <a:pPr algn="ctr"/>
            <a:r>
              <a:rPr sz="1400" b="0" i="0">
                <a:solidFill>
                  <a:srgbClr val="1A1A1A"/>
                </a:solidFill>
                <a:latin typeface="Helvetica"/>
              </a:rPr>
              <a:t>Code</a:t>
            </a:r>
          </a:p>
        </p:txBody>
      </p:sp>
      <p:sp>
        <p:nvSpPr>
          <p:cNvPr id="6" name="Rectangle 5"/>
          <p:cNvSpPr/>
          <p:nvPr/>
        </p:nvSpPr>
        <p:spPr>
          <a:xfrm>
            <a:off x="3703320" y="4480560"/>
            <a:ext cx="1280160" cy="914400"/>
          </a:xfrm>
          <a:prstGeom prst="rect">
            <a:avLst/>
          </a:prstGeom>
          <a:solidFill>
            <a:srgbClr val="E0E0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3200400" y="5486400"/>
            <a:ext cx="2286000" cy="365760"/>
          </a:xfrm>
          <a:prstGeom prst="rect">
            <a:avLst/>
          </a:prstGeom>
          <a:noFill/>
        </p:spPr>
        <p:txBody>
          <a:bodyPr wrap="square">
            <a:spAutoFit/>
          </a:bodyPr>
          <a:lstStyle/>
          <a:p>
            <a:pPr algn="ctr"/>
            <a:r>
              <a:rPr sz="1400" b="0" i="0">
                <a:solidFill>
                  <a:srgbClr val="5A5A5A"/>
                </a:solidFill>
                <a:latin typeface="Helvetica"/>
              </a:rPr>
              <a:t>Decisions</a:t>
            </a:r>
          </a:p>
        </p:txBody>
      </p:sp>
      <p:sp>
        <p:nvSpPr>
          <p:cNvPr id="8" name="TextBox 7"/>
          <p:cNvSpPr txBox="1"/>
          <p:nvPr/>
        </p:nvSpPr>
        <p:spPr>
          <a:xfrm>
            <a:off x="731520" y="6035040"/>
            <a:ext cx="5212080" cy="365760"/>
          </a:xfrm>
          <a:prstGeom prst="rect">
            <a:avLst/>
          </a:prstGeom>
          <a:noFill/>
        </p:spPr>
        <p:txBody>
          <a:bodyPr wrap="square">
            <a:spAutoFit/>
          </a:bodyPr>
          <a:lstStyle/>
          <a:p>
            <a:pPr algn="ctr"/>
            <a:r>
              <a:rPr sz="1400" b="0" i="1">
                <a:solidFill>
                  <a:srgbClr val="5A5A5A"/>
                </a:solidFill>
                <a:latin typeface="Helvetica"/>
              </a:rPr>
              <a:t>Execution was the bottleneck.</a:t>
            </a:r>
          </a:p>
        </p:txBody>
      </p:sp>
      <p:sp>
        <p:nvSpPr>
          <p:cNvPr id="9" name="TextBox 8"/>
          <p:cNvSpPr txBox="1"/>
          <p:nvPr/>
        </p:nvSpPr>
        <p:spPr>
          <a:xfrm>
            <a:off x="6245352" y="1554480"/>
            <a:ext cx="5212080" cy="365760"/>
          </a:xfrm>
          <a:prstGeom prst="rect">
            <a:avLst/>
          </a:prstGeom>
          <a:noFill/>
        </p:spPr>
        <p:txBody>
          <a:bodyPr wrap="square">
            <a:spAutoFit/>
          </a:bodyPr>
          <a:lstStyle/>
          <a:p>
            <a:pPr algn="ctr"/>
            <a:r>
              <a:rPr sz="1600" b="0" i="0">
                <a:solidFill>
                  <a:srgbClr val="5A5A5A"/>
                </a:solidFill>
                <a:latin typeface="Helvetica"/>
              </a:rPr>
              <a:t>2026</a:t>
            </a:r>
          </a:p>
        </p:txBody>
      </p:sp>
      <p:sp>
        <p:nvSpPr>
          <p:cNvPr id="10" name="Rectangle 9"/>
          <p:cNvSpPr/>
          <p:nvPr/>
        </p:nvSpPr>
        <p:spPr>
          <a:xfrm>
            <a:off x="7296912" y="4480560"/>
            <a:ext cx="1280160" cy="914400"/>
          </a:xfrm>
          <a:prstGeom prst="rect">
            <a:avLst/>
          </a:prstGeom>
          <a:solidFill>
            <a:srgbClr val="E0E0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793992" y="5486400"/>
            <a:ext cx="2286000" cy="365760"/>
          </a:xfrm>
          <a:prstGeom prst="rect">
            <a:avLst/>
          </a:prstGeom>
          <a:noFill/>
        </p:spPr>
        <p:txBody>
          <a:bodyPr wrap="square">
            <a:spAutoFit/>
          </a:bodyPr>
          <a:lstStyle/>
          <a:p>
            <a:pPr algn="ctr"/>
            <a:r>
              <a:rPr sz="1400" b="0" i="0">
                <a:solidFill>
                  <a:srgbClr val="5A5A5A"/>
                </a:solidFill>
                <a:latin typeface="Helvetica"/>
              </a:rPr>
              <a:t>Code</a:t>
            </a:r>
          </a:p>
        </p:txBody>
      </p:sp>
      <p:sp>
        <p:nvSpPr>
          <p:cNvPr id="12" name="Rectangle 11"/>
          <p:cNvSpPr/>
          <p:nvPr/>
        </p:nvSpPr>
        <p:spPr>
          <a:xfrm>
            <a:off x="9217152" y="2194560"/>
            <a:ext cx="1280160" cy="3200400"/>
          </a:xfrm>
          <a:prstGeom prst="rect">
            <a:avLst/>
          </a:prstGeom>
          <a:solidFill>
            <a:srgbClr val="0E5E6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714232" y="5486400"/>
            <a:ext cx="2286000" cy="365760"/>
          </a:xfrm>
          <a:prstGeom prst="rect">
            <a:avLst/>
          </a:prstGeom>
          <a:noFill/>
        </p:spPr>
        <p:txBody>
          <a:bodyPr wrap="square">
            <a:spAutoFit/>
          </a:bodyPr>
          <a:lstStyle/>
          <a:p>
            <a:pPr algn="ctr"/>
            <a:r>
              <a:rPr sz="1400" b="0" i="0">
                <a:solidFill>
                  <a:srgbClr val="1A1A1A"/>
                </a:solidFill>
                <a:latin typeface="Helvetica"/>
              </a:rPr>
              <a:t>Decisions</a:t>
            </a:r>
          </a:p>
        </p:txBody>
      </p:sp>
      <p:sp>
        <p:nvSpPr>
          <p:cNvPr id="14" name="TextBox 13"/>
          <p:cNvSpPr txBox="1"/>
          <p:nvPr/>
        </p:nvSpPr>
        <p:spPr>
          <a:xfrm>
            <a:off x="6245352" y="6035040"/>
            <a:ext cx="5212080" cy="365760"/>
          </a:xfrm>
          <a:prstGeom prst="rect">
            <a:avLst/>
          </a:prstGeom>
          <a:noFill/>
        </p:spPr>
        <p:txBody>
          <a:bodyPr wrap="square">
            <a:spAutoFit/>
          </a:bodyPr>
          <a:lstStyle/>
          <a:p>
            <a:pPr algn="ctr"/>
            <a:r>
              <a:rPr sz="1400" b="0" i="1">
                <a:solidFill>
                  <a:srgbClr val="5A5A5A"/>
                </a:solidFill>
                <a:latin typeface="Helvetica"/>
              </a:rPr>
              <a:t>Judgment is the bottleneck.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Ceremonies of slowness.</a:t>
            </a:r>
          </a:p>
        </p:txBody>
      </p:sp>
      <p:sp>
        <p:nvSpPr>
          <p:cNvPr id="3" name="Rounded Rectangle 2"/>
          <p:cNvSpPr/>
          <p:nvPr/>
        </p:nvSpPr>
        <p:spPr>
          <a:xfrm>
            <a:off x="1371600" y="1737360"/>
            <a:ext cx="3026664" cy="1097280"/>
          </a:xfrm>
          <a:prstGeom prst="roundRect">
            <a:avLst/>
          </a:prstGeom>
          <a:solidFill>
            <a:srgbClr val="F2F2F2"/>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800" b="0" i="0">
                <a:solidFill>
                  <a:srgbClr val="1A1A1A"/>
                </a:solidFill>
                <a:latin typeface="Helvetica"/>
              </a:rPr>
              <a:t>Sprint</a:t>
            </a:r>
          </a:p>
        </p:txBody>
      </p:sp>
      <p:sp>
        <p:nvSpPr>
          <p:cNvPr id="4" name="Rounded Rectangle 3"/>
          <p:cNvSpPr/>
          <p:nvPr/>
        </p:nvSpPr>
        <p:spPr>
          <a:xfrm>
            <a:off x="4581144" y="1737360"/>
            <a:ext cx="3026664" cy="1097280"/>
          </a:xfrm>
          <a:prstGeom prst="roundRect">
            <a:avLst/>
          </a:prstGeom>
          <a:solidFill>
            <a:srgbClr val="F2F2F2"/>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800" b="0" i="0">
                <a:solidFill>
                  <a:srgbClr val="1A1A1A"/>
                </a:solidFill>
                <a:latin typeface="Helvetica"/>
              </a:rPr>
              <a:t>PR review queue</a:t>
            </a:r>
          </a:p>
        </p:txBody>
      </p:sp>
      <p:sp>
        <p:nvSpPr>
          <p:cNvPr id="5" name="Rounded Rectangle 4"/>
          <p:cNvSpPr/>
          <p:nvPr/>
        </p:nvSpPr>
        <p:spPr>
          <a:xfrm>
            <a:off x="7790688" y="1737360"/>
            <a:ext cx="3026664" cy="1097280"/>
          </a:xfrm>
          <a:prstGeom prst="roundRect">
            <a:avLst/>
          </a:prstGeom>
          <a:solidFill>
            <a:srgbClr val="F2F2F2"/>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800" b="0" i="0">
                <a:solidFill>
                  <a:srgbClr val="1A1A1A"/>
                </a:solidFill>
                <a:latin typeface="Helvetica"/>
              </a:rPr>
              <a:t>Standup</a:t>
            </a:r>
          </a:p>
        </p:txBody>
      </p:sp>
      <p:sp>
        <p:nvSpPr>
          <p:cNvPr id="6" name="Rounded Rectangle 5"/>
          <p:cNvSpPr/>
          <p:nvPr/>
        </p:nvSpPr>
        <p:spPr>
          <a:xfrm>
            <a:off x="1371600" y="3017520"/>
            <a:ext cx="3026664" cy="1097280"/>
          </a:xfrm>
          <a:prstGeom prst="roundRect">
            <a:avLst/>
          </a:prstGeom>
          <a:solidFill>
            <a:srgbClr val="F2F2F2"/>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800" b="0" i="0">
                <a:solidFill>
                  <a:srgbClr val="1A1A1A"/>
                </a:solidFill>
                <a:latin typeface="Helvetica"/>
              </a:rPr>
              <a:t>Backlog grooming</a:t>
            </a:r>
          </a:p>
        </p:txBody>
      </p:sp>
      <p:sp>
        <p:nvSpPr>
          <p:cNvPr id="7" name="Rounded Rectangle 6"/>
          <p:cNvSpPr/>
          <p:nvPr/>
        </p:nvSpPr>
        <p:spPr>
          <a:xfrm>
            <a:off x="4581144" y="3017520"/>
            <a:ext cx="3026664" cy="1097280"/>
          </a:xfrm>
          <a:prstGeom prst="roundRect">
            <a:avLst/>
          </a:prstGeom>
          <a:solidFill>
            <a:srgbClr val="F2F2F2"/>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800" b="0" i="0">
                <a:solidFill>
                  <a:srgbClr val="1A1A1A"/>
                </a:solidFill>
                <a:latin typeface="Helvetica"/>
              </a:rPr>
              <a:t>Change approval</a:t>
            </a:r>
          </a:p>
        </p:txBody>
      </p:sp>
      <p:sp>
        <p:nvSpPr>
          <p:cNvPr id="8" name="Rounded Rectangle 7"/>
          <p:cNvSpPr/>
          <p:nvPr/>
        </p:nvSpPr>
        <p:spPr>
          <a:xfrm>
            <a:off x="7790688" y="3017520"/>
            <a:ext cx="3026664" cy="1097280"/>
          </a:xfrm>
          <a:prstGeom prst="roundRect">
            <a:avLst/>
          </a:prstGeom>
          <a:solidFill>
            <a:srgbClr val="F2F2F2"/>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800" b="0" i="0">
                <a:solidFill>
                  <a:srgbClr val="1A1A1A"/>
                </a:solidFill>
                <a:latin typeface="Helvetica"/>
              </a:rPr>
              <a:t>Release sign-off</a:t>
            </a:r>
          </a:p>
        </p:txBody>
      </p:sp>
      <p:sp>
        <p:nvSpPr>
          <p:cNvPr id="9" name="Rounded Rectangle 8"/>
          <p:cNvSpPr/>
          <p:nvPr/>
        </p:nvSpPr>
        <p:spPr>
          <a:xfrm>
            <a:off x="1371600" y="4297680"/>
            <a:ext cx="3026664" cy="1097280"/>
          </a:xfrm>
          <a:prstGeom prst="roundRect">
            <a:avLst/>
          </a:prstGeom>
          <a:solidFill>
            <a:srgbClr val="F2F2F2"/>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800" b="0" i="0">
                <a:solidFill>
                  <a:srgbClr val="1A1A1A"/>
                </a:solidFill>
                <a:latin typeface="Helvetica"/>
              </a:rPr>
              <a:t>RFC</a:t>
            </a:r>
          </a:p>
        </p:txBody>
      </p:sp>
      <p:sp>
        <p:nvSpPr>
          <p:cNvPr id="10" name="Rounded Rectangle 9"/>
          <p:cNvSpPr/>
          <p:nvPr/>
        </p:nvSpPr>
        <p:spPr>
          <a:xfrm>
            <a:off x="4581144" y="4297680"/>
            <a:ext cx="3026664" cy="1097280"/>
          </a:xfrm>
          <a:prstGeom prst="roundRect">
            <a:avLst/>
          </a:prstGeom>
          <a:solidFill>
            <a:srgbClr val="F2F2F2"/>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800" b="0" i="0">
                <a:solidFill>
                  <a:srgbClr val="1A1A1A"/>
                </a:solidFill>
                <a:latin typeface="Helvetica"/>
              </a:rPr>
              <a:t>Architecture review</a:t>
            </a:r>
          </a:p>
        </p:txBody>
      </p:sp>
      <p:sp>
        <p:nvSpPr>
          <p:cNvPr id="11" name="Rounded Rectangle 10"/>
          <p:cNvSpPr/>
          <p:nvPr/>
        </p:nvSpPr>
        <p:spPr>
          <a:xfrm>
            <a:off x="7790688" y="4297680"/>
            <a:ext cx="3026664" cy="1097280"/>
          </a:xfrm>
          <a:prstGeom prst="roundRect">
            <a:avLst/>
          </a:prstGeom>
          <a:solidFill>
            <a:srgbClr val="F2F2F2"/>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800" b="0" i="0">
                <a:solidFill>
                  <a:srgbClr val="1A1A1A"/>
                </a:solidFill>
                <a:latin typeface="Helvetica"/>
              </a:rPr>
              <a:t>Estimation</a:t>
            </a:r>
          </a:p>
        </p:txBody>
      </p:sp>
      <p:cxnSp>
        <p:nvCxnSpPr>
          <p:cNvPr id="12" name="Connector 11"/>
          <p:cNvCxnSpPr/>
          <p:nvPr/>
        </p:nvCxnSpPr>
        <p:spPr>
          <a:xfrm flipV="1">
            <a:off x="1371600" y="1737360"/>
            <a:ext cx="9445752" cy="3657600"/>
          </a:xfrm>
          <a:prstGeom prst="line">
            <a:avLst/>
          </a:prstGeom>
          <a:ln w="50800">
            <a:solidFill>
              <a:srgbClr val="0E5E6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5760720"/>
            <a:ext cx="10728655" cy="548640"/>
          </a:xfrm>
          <a:prstGeom prst="rect">
            <a:avLst/>
          </a:prstGeom>
          <a:noFill/>
        </p:spPr>
        <p:txBody>
          <a:bodyPr wrap="square">
            <a:spAutoFit/>
          </a:bodyPr>
          <a:lstStyle/>
          <a:p>
            <a:pPr algn="ctr"/>
            <a:r>
              <a:rPr sz="1600" b="0" i="1">
                <a:solidFill>
                  <a:srgbClr val="5A5A5A"/>
                </a:solidFill>
                <a:latin typeface="Helvetica"/>
              </a:rPr>
              <a:t>A sprint is a ceremony for slowing down — when execution was slow, that was a feature. Now it is the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Old SDLC vs Agentic SDLC.</a:t>
            </a:r>
          </a:p>
        </p:txBody>
      </p:sp>
      <p:sp>
        <p:nvSpPr>
          <p:cNvPr id="3" name="Rounded Rectangle 2"/>
          <p:cNvSpPr/>
          <p:nvPr/>
        </p:nvSpPr>
        <p:spPr>
          <a:xfrm>
            <a:off x="731520" y="1554480"/>
            <a:ext cx="5212080" cy="4572000"/>
          </a:xfrm>
          <a:prstGeom prst="roundRect">
            <a:avLst/>
          </a:prstGeom>
          <a:solidFill>
            <a:srgbClr val="FFFFFF"/>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05840" y="1737360"/>
            <a:ext cx="4663440" cy="502920"/>
          </a:xfrm>
          <a:prstGeom prst="rect">
            <a:avLst/>
          </a:prstGeom>
          <a:noFill/>
        </p:spPr>
        <p:txBody>
          <a:bodyPr wrap="square">
            <a:spAutoFit/>
          </a:bodyPr>
          <a:lstStyle/>
          <a:p>
            <a:r>
              <a:rPr sz="2200" b="1" i="0">
                <a:solidFill>
                  <a:srgbClr val="5A5A5A"/>
                </a:solidFill>
                <a:latin typeface="Helvetica"/>
              </a:rPr>
              <a:t>Old SDLC</a:t>
            </a:r>
          </a:p>
        </p:txBody>
      </p:sp>
      <p:sp>
        <p:nvSpPr>
          <p:cNvPr id="5" name="TextBox 4"/>
          <p:cNvSpPr txBox="1"/>
          <p:nvPr/>
        </p:nvSpPr>
        <p:spPr>
          <a:xfrm>
            <a:off x="1005840" y="2377440"/>
            <a:ext cx="4663440" cy="3657600"/>
          </a:xfrm>
          <a:prstGeom prst="rect">
            <a:avLst/>
          </a:prstGeom>
          <a:noFill/>
        </p:spPr>
        <p:txBody>
          <a:bodyPr wrap="square">
            <a:spAutoFit/>
          </a:bodyPr>
          <a:lstStyle/>
          <a:p>
            <a:pPr marL="228600" indent="-228600">
              <a:lnSpc>
                <a:spcPts val="3000"/>
              </a:lnSpc>
              <a:buChar char="•"/>
            </a:pPr>
            <a:r>
              <a:rPr sz="1800" b="0" i="0">
                <a:solidFill>
                  <a:srgbClr val="1A1A1A"/>
                </a:solidFill>
                <a:latin typeface="Helvetica"/>
              </a:rPr>
              <a:t>PM writes a ticket</a:t>
            </a:r>
          </a:p>
          <a:p>
            <a:pPr marL="228600" indent="-228600">
              <a:lnSpc>
                <a:spcPts val="3000"/>
              </a:lnSpc>
              <a:buChar char="•"/>
            </a:pPr>
            <a:r>
              <a:rPr sz="1800" b="0" i="0">
                <a:solidFill>
                  <a:srgbClr val="1A1A1A"/>
                </a:solidFill>
                <a:latin typeface="Helvetica"/>
              </a:rPr>
              <a:t>SWE codes it</a:t>
            </a:r>
          </a:p>
          <a:p>
            <a:pPr marL="228600" indent="-228600">
              <a:lnSpc>
                <a:spcPts val="3000"/>
              </a:lnSpc>
              <a:buChar char="•"/>
            </a:pPr>
            <a:r>
              <a:rPr sz="1800" b="0" i="0">
                <a:solidFill>
                  <a:srgbClr val="1A1A1A"/>
                </a:solidFill>
                <a:latin typeface="Helvetica"/>
              </a:rPr>
              <a:t>Reviewer queues a PR</a:t>
            </a:r>
          </a:p>
          <a:p>
            <a:pPr marL="228600" indent="-228600">
              <a:lnSpc>
                <a:spcPts val="3000"/>
              </a:lnSpc>
              <a:buChar char="•"/>
            </a:pPr>
            <a:r>
              <a:rPr sz="1800" b="0" i="0">
                <a:solidFill>
                  <a:srgbClr val="1A1A1A"/>
                </a:solidFill>
                <a:latin typeface="Helvetica"/>
              </a:rPr>
              <a:t>Manual QA pass</a:t>
            </a:r>
          </a:p>
          <a:p>
            <a:pPr marL="228600" indent="-228600">
              <a:lnSpc>
                <a:spcPts val="3000"/>
              </a:lnSpc>
              <a:buChar char="•"/>
            </a:pPr>
            <a:r>
              <a:rPr sz="1800" b="0" i="0">
                <a:solidFill>
                  <a:srgbClr val="1A1A1A"/>
                </a:solidFill>
                <a:latin typeface="Helvetica"/>
              </a:rPr>
              <a:t>Manual deploy approval</a:t>
            </a:r>
          </a:p>
          <a:p>
            <a:pPr marL="228600" indent="-228600">
              <a:lnSpc>
                <a:spcPts val="3000"/>
              </a:lnSpc>
              <a:buChar char="•"/>
            </a:pPr>
            <a:r>
              <a:rPr sz="1800" b="0" i="0">
                <a:solidFill>
                  <a:srgbClr val="1A1A1A"/>
                </a:solidFill>
                <a:latin typeface="Helvetica"/>
              </a:rPr>
              <a:t>Release sign-off chain</a:t>
            </a:r>
          </a:p>
          <a:p>
            <a:pPr>
              <a:lnSpc>
                <a:spcPts val="3000"/>
              </a:lnSpc>
            </a:pPr>
            <a:r>
              <a:rPr sz="1800" b="0" i="0">
                <a:solidFill>
                  <a:srgbClr val="1A1A1A"/>
                </a:solidFill>
                <a:latin typeface="Helvetica"/>
              </a:rPr>
              <a:t/>
            </a:r>
          </a:p>
        </p:txBody>
      </p:sp>
      <p:sp>
        <p:nvSpPr>
          <p:cNvPr id="6" name="Rounded Rectangle 5"/>
          <p:cNvSpPr/>
          <p:nvPr/>
        </p:nvSpPr>
        <p:spPr>
          <a:xfrm>
            <a:off x="6245352" y="1554480"/>
            <a:ext cx="5212080" cy="4572000"/>
          </a:xfrm>
          <a:prstGeom prst="roundRect">
            <a:avLst/>
          </a:prstGeom>
          <a:solidFill>
            <a:srgbClr val="FFFFFF"/>
          </a:solidFill>
          <a:ln w="254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1737360"/>
            <a:ext cx="4663440" cy="502920"/>
          </a:xfrm>
          <a:prstGeom prst="rect">
            <a:avLst/>
          </a:prstGeom>
          <a:noFill/>
        </p:spPr>
        <p:txBody>
          <a:bodyPr wrap="square">
            <a:spAutoFit/>
          </a:bodyPr>
          <a:lstStyle/>
          <a:p>
            <a:r>
              <a:rPr sz="2200" b="1" i="0">
                <a:solidFill>
                  <a:srgbClr val="0E5E6E"/>
                </a:solidFill>
                <a:latin typeface="Helvetica"/>
              </a:rPr>
              <a:t>Agentic SDLC</a:t>
            </a:r>
          </a:p>
        </p:txBody>
      </p:sp>
      <p:sp>
        <p:nvSpPr>
          <p:cNvPr id="8" name="TextBox 7"/>
          <p:cNvSpPr txBox="1"/>
          <p:nvPr/>
        </p:nvSpPr>
        <p:spPr>
          <a:xfrm>
            <a:off x="6519672" y="2377440"/>
            <a:ext cx="4663440" cy="3657600"/>
          </a:xfrm>
          <a:prstGeom prst="rect">
            <a:avLst/>
          </a:prstGeom>
          <a:noFill/>
        </p:spPr>
        <p:txBody>
          <a:bodyPr wrap="square">
            <a:spAutoFit/>
          </a:bodyPr>
          <a:lstStyle/>
          <a:p>
            <a:pPr marL="228600" indent="-228600">
              <a:lnSpc>
                <a:spcPts val="3000"/>
              </a:lnSpc>
              <a:buChar char="•"/>
            </a:pPr>
            <a:r>
              <a:rPr sz="1800" b="0" i="0">
                <a:solidFill>
                  <a:srgbClr val="1A1A1A"/>
                </a:solidFill>
                <a:latin typeface="Helvetica"/>
              </a:rPr>
              <a:t>Intent encoded as spec</a:t>
            </a:r>
          </a:p>
          <a:p>
            <a:pPr marL="228600" indent="-228600">
              <a:lnSpc>
                <a:spcPts val="3000"/>
              </a:lnSpc>
              <a:buChar char="•"/>
            </a:pPr>
            <a:r>
              <a:rPr sz="1800" b="0" i="0">
                <a:solidFill>
                  <a:srgbClr val="1A1A1A"/>
                </a:solidFill>
                <a:latin typeface="Helvetica"/>
              </a:rPr>
              <a:t>Agent generates implementation</a:t>
            </a:r>
          </a:p>
          <a:p>
            <a:pPr marL="228600" indent="-228600">
              <a:lnSpc>
                <a:spcPts val="3000"/>
              </a:lnSpc>
              <a:buChar char="•"/>
            </a:pPr>
            <a:r>
              <a:rPr sz="1800" b="0" i="0">
                <a:solidFill>
                  <a:srgbClr val="1A1A1A"/>
                </a:solidFill>
                <a:latin typeface="Helvetica"/>
              </a:rPr>
              <a:t>Policy-as-code validates</a:t>
            </a:r>
          </a:p>
          <a:p>
            <a:pPr marL="228600" indent="-228600">
              <a:lnSpc>
                <a:spcPts val="3000"/>
              </a:lnSpc>
              <a:buChar char="•"/>
            </a:pPr>
            <a:r>
              <a:rPr sz="1800" b="0" i="0">
                <a:solidFill>
                  <a:srgbClr val="1A1A1A"/>
                </a:solidFill>
                <a:latin typeface="Helvetica"/>
              </a:rPr>
              <a:t>Continuous deploy under policy</a:t>
            </a:r>
          </a:p>
          <a:p>
            <a:pPr marL="228600" indent="-228600">
              <a:lnSpc>
                <a:spcPts val="3000"/>
              </a:lnSpc>
              <a:buChar char="•"/>
            </a:pPr>
            <a:r>
              <a:rPr sz="1800" b="0" i="0">
                <a:solidFill>
                  <a:srgbClr val="1A1A1A"/>
                </a:solidFill>
                <a:latin typeface="Helvetica"/>
              </a:rPr>
              <a:t>Audit trail emitted automatically</a:t>
            </a:r>
          </a:p>
          <a:p>
            <a:pPr>
              <a:lnSpc>
                <a:spcPts val="3000"/>
              </a:lnSpc>
            </a:pPr>
            <a:r>
              <a:rPr sz="1800" b="0" i="0">
                <a:solidFill>
                  <a:srgbClr val="1A1A1A"/>
                </a:solidFill>
                <a:latin typeface="Helvetica"/>
              </a:rPr>
              <a:t/>
            </a:r>
          </a:p>
        </p:txBody>
      </p:sp>
      <p:sp>
        <p:nvSpPr>
          <p:cNvPr id="9" name="TextBox 8"/>
          <p:cNvSpPr txBox="1"/>
          <p:nvPr/>
        </p:nvSpPr>
        <p:spPr>
          <a:xfrm>
            <a:off x="6519672" y="5440680"/>
            <a:ext cx="4663440" cy="457200"/>
          </a:xfrm>
          <a:prstGeom prst="rect">
            <a:avLst/>
          </a:prstGeom>
          <a:noFill/>
        </p:spPr>
        <p:txBody>
          <a:bodyPr wrap="square">
            <a:spAutoFit/>
          </a:bodyPr>
          <a:lstStyle/>
          <a:p>
            <a:r>
              <a:rPr sz="1600" b="0" i="1">
                <a:solidFill>
                  <a:srgbClr val="B0B0B0"/>
                </a:solidFill>
                <a:latin typeface="Helvetica"/>
              </a:rPr>
              <a:t>— Human review queue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362895" cy="1371600"/>
          </a:xfrm>
          <a:prstGeom prst="rect">
            <a:avLst/>
          </a:prstGeom>
          <a:noFill/>
        </p:spPr>
        <p:txBody>
          <a:bodyPr wrap="square" anchor="ctr">
            <a:spAutoFit/>
          </a:bodyPr>
          <a:lstStyle/>
          <a:p>
            <a:pPr algn="ctr"/>
            <a:r>
              <a:rPr sz="5400" b="1" i="0">
                <a:solidFill>
                  <a:srgbClr val="1A1A1A"/>
                </a:solidFill>
                <a:latin typeface="Helvetica"/>
              </a:rPr>
              <a:t>You have done this before.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You have done this before — twice.</a:t>
            </a:r>
          </a:p>
        </p:txBody>
      </p:sp>
      <p:sp>
        <p:nvSpPr>
          <p:cNvPr id="3" name="Rectangle 2"/>
          <p:cNvSpPr/>
          <p:nvPr/>
        </p:nvSpPr>
        <p:spPr>
          <a:xfrm>
            <a:off x="731520" y="1463040"/>
            <a:ext cx="5212080" cy="3291840"/>
          </a:xfrm>
          <a:prstGeom prst="rect">
            <a:avLst/>
          </a:prstGeom>
          <a:solidFill>
            <a:srgbClr val="E5E5E5"/>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400" b="0" i="0">
                <a:solidFill>
                  <a:srgbClr val="5A5A5A"/>
                </a:solidFill>
                <a:latin typeface="Helvetica"/>
              </a:rPr>
              <a:t>[Open-outcry trading floor — photo placeholder]</a:t>
            </a:r>
          </a:p>
        </p:txBody>
      </p:sp>
      <p:sp>
        <p:nvSpPr>
          <p:cNvPr id="4" name="TextBox 3"/>
          <p:cNvSpPr txBox="1"/>
          <p:nvPr/>
        </p:nvSpPr>
        <p:spPr>
          <a:xfrm>
            <a:off x="731520" y="4846320"/>
            <a:ext cx="5212080" cy="457200"/>
          </a:xfrm>
          <a:prstGeom prst="rect">
            <a:avLst/>
          </a:prstGeom>
          <a:noFill/>
        </p:spPr>
        <p:txBody>
          <a:bodyPr wrap="square">
            <a:spAutoFit/>
          </a:bodyPr>
          <a:lstStyle/>
          <a:p>
            <a:pPr algn="ctr"/>
            <a:r>
              <a:rPr sz="1800" b="1" i="0">
                <a:solidFill>
                  <a:srgbClr val="1A1A1A"/>
                </a:solidFill>
                <a:latin typeface="Helvetica"/>
              </a:rPr>
              <a:t>1985 — Open-outcry trading floor</a:t>
            </a:r>
          </a:p>
        </p:txBody>
      </p:sp>
      <p:sp>
        <p:nvSpPr>
          <p:cNvPr id="5" name="Rectangle 4"/>
          <p:cNvSpPr/>
          <p:nvPr/>
        </p:nvSpPr>
        <p:spPr>
          <a:xfrm>
            <a:off x="6245352" y="1463040"/>
            <a:ext cx="5212080" cy="3291840"/>
          </a:xfrm>
          <a:prstGeom prst="rect">
            <a:avLst/>
          </a:prstGeom>
          <a:solidFill>
            <a:srgbClr val="E5E5E5"/>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400" b="0" i="0">
                <a:solidFill>
                  <a:srgbClr val="5A5A5A"/>
                </a:solidFill>
                <a:latin typeface="Helvetica"/>
              </a:rPr>
              <a:t>[Algorithmic trading desk — photo placeholder]</a:t>
            </a:r>
          </a:p>
        </p:txBody>
      </p:sp>
      <p:sp>
        <p:nvSpPr>
          <p:cNvPr id="6" name="TextBox 5"/>
          <p:cNvSpPr txBox="1"/>
          <p:nvPr/>
        </p:nvSpPr>
        <p:spPr>
          <a:xfrm>
            <a:off x="6245352" y="4846320"/>
            <a:ext cx="5212080" cy="457200"/>
          </a:xfrm>
          <a:prstGeom prst="rect">
            <a:avLst/>
          </a:prstGeom>
          <a:noFill/>
        </p:spPr>
        <p:txBody>
          <a:bodyPr wrap="square">
            <a:spAutoFit/>
          </a:bodyPr>
          <a:lstStyle/>
          <a:p>
            <a:pPr algn="ctr"/>
            <a:r>
              <a:rPr sz="1800" b="1" i="0">
                <a:solidFill>
                  <a:srgbClr val="1A1A1A"/>
                </a:solidFill>
                <a:latin typeface="Helvetica"/>
              </a:rPr>
              <a:t>2010 — Algorithmic trading</a:t>
            </a:r>
          </a:p>
        </p:txBody>
      </p:sp>
      <p:sp>
        <p:nvSpPr>
          <p:cNvPr id="7" name="TextBox 6"/>
          <p:cNvSpPr txBox="1"/>
          <p:nvPr/>
        </p:nvSpPr>
        <p:spPr>
          <a:xfrm>
            <a:off x="731520" y="5577840"/>
            <a:ext cx="10728655" cy="640080"/>
          </a:xfrm>
          <a:prstGeom prst="rect">
            <a:avLst/>
          </a:prstGeom>
          <a:noFill/>
        </p:spPr>
        <p:txBody>
          <a:bodyPr wrap="square">
            <a:spAutoFit/>
          </a:bodyPr>
          <a:lstStyle/>
          <a:p>
            <a:pPr algn="ctr"/>
            <a:r>
              <a:rPr sz="1800" b="0" i="1">
                <a:solidFill>
                  <a:srgbClr val="0E5E6E"/>
                </a:solidFill>
                <a:latin typeface="Helvetica"/>
              </a:rPr>
              <a:t>Trader judgment → risk-limit specs → autonomous execution within bounds.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You have done this inside engineering, too.</a:t>
            </a:r>
          </a:p>
        </p:txBody>
      </p:sp>
      <p:sp>
        <p:nvSpPr>
          <p:cNvPr id="3" name="TextBox 2"/>
          <p:cNvSpPr txBox="1"/>
          <p:nvPr/>
        </p:nvSpPr>
        <p:spPr>
          <a:xfrm>
            <a:off x="548640" y="1371600"/>
            <a:ext cx="11064240" cy="457200"/>
          </a:xfrm>
          <a:prstGeom prst="rect">
            <a:avLst/>
          </a:prstGeom>
          <a:noFill/>
        </p:spPr>
        <p:txBody>
          <a:bodyPr wrap="square">
            <a:spAutoFit/>
          </a:bodyPr>
          <a:lstStyle/>
          <a:p>
            <a:r>
              <a:rPr sz="1800" b="0" i="1">
                <a:solidFill>
                  <a:srgbClr val="5A5A5A"/>
                </a:solidFill>
                <a:latin typeface="Helvetica"/>
              </a:rPr>
              <a:t>Code-review judgment, encoded one step at a time.</a:t>
            </a:r>
          </a:p>
        </p:txBody>
      </p:sp>
      <p:sp>
        <p:nvSpPr>
          <p:cNvPr id="4" name="Chevron 3"/>
          <p:cNvSpPr/>
          <p:nvPr/>
        </p:nvSpPr>
        <p:spPr>
          <a:xfrm>
            <a:off x="548640" y="2651760"/>
            <a:ext cx="2491740" cy="182880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Senior reviewer checklist</a:t>
            </a:r>
          </a:p>
        </p:txBody>
      </p:sp>
      <p:sp>
        <p:nvSpPr>
          <p:cNvPr id="5" name="Chevron 4"/>
          <p:cNvSpPr/>
          <p:nvPr/>
        </p:nvSpPr>
        <p:spPr>
          <a:xfrm>
            <a:off x="3314700" y="2651760"/>
            <a:ext cx="2491740" cy="182880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Linters</a:t>
            </a:r>
          </a:p>
        </p:txBody>
      </p:sp>
      <p:sp>
        <p:nvSpPr>
          <p:cNvPr id="6" name="Chevron 5"/>
          <p:cNvSpPr/>
          <p:nvPr/>
        </p:nvSpPr>
        <p:spPr>
          <a:xfrm>
            <a:off x="6080760" y="2651760"/>
            <a:ext cx="2491740" cy="182880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SAST scans</a:t>
            </a:r>
          </a:p>
        </p:txBody>
      </p:sp>
      <p:sp>
        <p:nvSpPr>
          <p:cNvPr id="7" name="Chevron 6"/>
          <p:cNvSpPr/>
          <p:nvPr/>
        </p:nvSpPr>
        <p:spPr>
          <a:xfrm>
            <a:off x="8846820" y="2651760"/>
            <a:ext cx="2491740" cy="182880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Policy-as-code (OPA / Sentinel)</a:t>
            </a:r>
          </a:p>
        </p:txBody>
      </p:sp>
      <p:sp>
        <p:nvSpPr>
          <p:cNvPr id="8" name="TextBox 7"/>
          <p:cNvSpPr txBox="1"/>
          <p:nvPr/>
        </p:nvSpPr>
        <p:spPr>
          <a:xfrm>
            <a:off x="548640" y="5120640"/>
            <a:ext cx="11064240" cy="1280160"/>
          </a:xfrm>
          <a:prstGeom prst="rect">
            <a:avLst/>
          </a:prstGeom>
          <a:noFill/>
        </p:spPr>
        <p:txBody>
          <a:bodyPr wrap="square">
            <a:spAutoFit/>
          </a:bodyPr>
          <a:lstStyle/>
          <a:p>
            <a:pPr algn="ctr"/>
            <a:r>
              <a:rPr sz="1800" b="0" i="0">
                <a:solidFill>
                  <a:srgbClr val="1A1A1A"/>
                </a:solidFill>
                <a:latin typeface="Helvetica"/>
              </a:rPr>
              <a:t>Each step did not replace the reviewer. Each step encoded one slice of reviewer judgment, so reviewers could spend their attention on the slice that still needed humans.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AIDLC.</a:t>
            </a:r>
          </a:p>
        </p:txBody>
      </p:sp>
      <p:sp>
        <p:nvSpPr>
          <p:cNvPr id="3" name="TextBox 2"/>
          <p:cNvSpPr txBox="1"/>
          <p:nvPr/>
        </p:nvSpPr>
        <p:spPr>
          <a:xfrm>
            <a:off x="548640" y="1143000"/>
            <a:ext cx="11064240" cy="457200"/>
          </a:xfrm>
          <a:prstGeom prst="rect">
            <a:avLst/>
          </a:prstGeom>
          <a:noFill/>
        </p:spPr>
        <p:txBody>
          <a:bodyPr wrap="square">
            <a:spAutoFit/>
          </a:bodyPr>
          <a:lstStyle/>
          <a:p>
            <a:r>
              <a:rPr sz="1800" b="0" i="0">
                <a:solidFill>
                  <a:srgbClr val="5A5A5A"/>
                </a:solidFill>
                <a:latin typeface="Helvetica"/>
              </a:rPr>
              <a:t>Intent → Specification → Agent reasoning → Validation / Production.</a:t>
            </a:r>
          </a:p>
        </p:txBody>
      </p:sp>
      <p:sp>
        <p:nvSpPr>
          <p:cNvPr id="4" name="Chevron 3"/>
          <p:cNvSpPr/>
          <p:nvPr/>
        </p:nvSpPr>
        <p:spPr>
          <a:xfrm>
            <a:off x="548640" y="2468880"/>
            <a:ext cx="2491740" cy="201168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Intent</a:t>
            </a:r>
          </a:p>
        </p:txBody>
      </p:sp>
      <p:sp>
        <p:nvSpPr>
          <p:cNvPr id="5" name="Chevron 4"/>
          <p:cNvSpPr/>
          <p:nvPr/>
        </p:nvSpPr>
        <p:spPr>
          <a:xfrm>
            <a:off x="3314700" y="2468880"/>
            <a:ext cx="2491740" cy="201168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Specification</a:t>
            </a:r>
          </a:p>
        </p:txBody>
      </p:sp>
      <p:sp>
        <p:nvSpPr>
          <p:cNvPr id="6" name="Chevron 5"/>
          <p:cNvSpPr/>
          <p:nvPr/>
        </p:nvSpPr>
        <p:spPr>
          <a:xfrm>
            <a:off x="6080760" y="2468880"/>
            <a:ext cx="2491740" cy="201168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Agent reasoning</a:t>
            </a:r>
          </a:p>
        </p:txBody>
      </p:sp>
      <p:sp>
        <p:nvSpPr>
          <p:cNvPr id="7" name="Chevron 6"/>
          <p:cNvSpPr/>
          <p:nvPr/>
        </p:nvSpPr>
        <p:spPr>
          <a:xfrm>
            <a:off x="8846820" y="2468880"/>
            <a:ext cx="2491740" cy="201168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Validation / Production</a:t>
            </a:r>
          </a:p>
        </p:txBody>
      </p:sp>
      <p:sp>
        <p:nvSpPr>
          <p:cNvPr id="8" name="TextBox 7"/>
          <p:cNvSpPr txBox="1"/>
          <p:nvPr/>
        </p:nvSpPr>
        <p:spPr>
          <a:xfrm>
            <a:off x="548640" y="4572000"/>
            <a:ext cx="2743200" cy="457200"/>
          </a:xfrm>
          <a:prstGeom prst="rect">
            <a:avLst/>
          </a:prstGeom>
          <a:noFill/>
        </p:spPr>
        <p:txBody>
          <a:bodyPr wrap="square">
            <a:spAutoFit/>
          </a:bodyPr>
          <a:lstStyle/>
          <a:p>
            <a:pPr algn="ctr"/>
            <a:r>
              <a:rPr sz="1600" b="1" i="0">
                <a:solidFill>
                  <a:srgbClr val="0E5E6E"/>
                </a:solidFill>
                <a:latin typeface="Helvetica"/>
              </a:rPr>
              <a:t>👤  Human encodes</a:t>
            </a:r>
          </a:p>
        </p:txBody>
      </p:sp>
      <p:sp>
        <p:nvSpPr>
          <p:cNvPr id="9" name="TextBox 8"/>
          <p:cNvSpPr txBox="1"/>
          <p:nvPr/>
        </p:nvSpPr>
        <p:spPr>
          <a:xfrm>
            <a:off x="8869680" y="4572000"/>
            <a:ext cx="2743200" cy="457200"/>
          </a:xfrm>
          <a:prstGeom prst="rect">
            <a:avLst/>
          </a:prstGeom>
          <a:noFill/>
        </p:spPr>
        <p:txBody>
          <a:bodyPr wrap="square">
            <a:spAutoFit/>
          </a:bodyPr>
          <a:lstStyle/>
          <a:p>
            <a:pPr algn="ctr"/>
            <a:r>
              <a:rPr sz="1600" b="1" i="0">
                <a:solidFill>
                  <a:srgbClr val="0E5E6E"/>
                </a:solidFill>
                <a:latin typeface="Helvetica"/>
              </a:rPr>
              <a:t>👤  Human validates</a:t>
            </a:r>
          </a:p>
        </p:txBody>
      </p:sp>
      <p:sp>
        <p:nvSpPr>
          <p:cNvPr id="10" name="TextBox 9"/>
          <p:cNvSpPr txBox="1"/>
          <p:nvPr/>
        </p:nvSpPr>
        <p:spPr>
          <a:xfrm>
            <a:off x="548640" y="5669280"/>
            <a:ext cx="11064240" cy="640080"/>
          </a:xfrm>
          <a:prstGeom prst="rect">
            <a:avLst/>
          </a:prstGeom>
          <a:noFill/>
        </p:spPr>
        <p:txBody>
          <a:bodyPr wrap="square">
            <a:spAutoFit/>
          </a:bodyPr>
          <a:lstStyle/>
          <a:p>
            <a:pPr algn="ctr"/>
            <a:r>
              <a:rPr sz="2000" b="0" i="1">
                <a:solidFill>
                  <a:srgbClr val="1A1A1A"/>
                </a:solidFill>
                <a:latin typeface="Helvetica"/>
              </a:rPr>
              <a:t>Maturity = how much human intent you have encoded once.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2895" cy="1371600"/>
          </a:xfrm>
          <a:prstGeom prst="rect">
            <a:avLst/>
          </a:prstGeom>
          <a:noFill/>
        </p:spPr>
        <p:txBody>
          <a:bodyPr wrap="square" anchor="ctr">
            <a:spAutoFit/>
          </a:bodyPr>
          <a:lstStyle/>
          <a:p>
            <a:pPr algn="ctr"/>
            <a:r>
              <a:rPr sz="4800" b="1" i="0">
                <a:solidFill>
                  <a:srgbClr val="1A1A1A"/>
                </a:solidFill>
                <a:latin typeface="Helvetica"/>
              </a:rPr>
              <a:t>What is a valid offer?</a:t>
            </a:r>
          </a:p>
        </p:txBody>
      </p:sp>
      <p:sp>
        <p:nvSpPr>
          <p:cNvPr id="3" name="TextBox 2"/>
          <p:cNvSpPr txBox="1"/>
          <p:nvPr/>
        </p:nvSpPr>
        <p:spPr>
          <a:xfrm>
            <a:off x="1371600" y="4023360"/>
            <a:ext cx="9448495" cy="914400"/>
          </a:xfrm>
          <a:prstGeom prst="rect">
            <a:avLst/>
          </a:prstGeom>
          <a:noFill/>
        </p:spPr>
        <p:txBody>
          <a:bodyPr wrap="square">
            <a:spAutoFit/>
          </a:bodyPr>
          <a:lstStyle/>
          <a:p>
            <a:pPr algn="ctr"/>
            <a:r>
              <a:rPr sz="2200" b="0" i="1">
                <a:solidFill>
                  <a:srgbClr val="5A5A5A"/>
                </a:solidFill>
                <a:latin typeface="Helvetica"/>
              </a:rPr>
              <a:t>In your bank — where does this knowledge live today?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457200"/>
          </a:xfrm>
          <a:prstGeom prst="rect">
            <a:avLst/>
          </a:prstGeom>
          <a:noFill/>
        </p:spPr>
        <p:txBody>
          <a:bodyPr wrap="square">
            <a:spAutoFit/>
          </a:bodyPr>
          <a:lstStyle/>
          <a:p>
            <a:r>
              <a:rPr sz="2000" b="1" i="0">
                <a:solidFill>
                  <a:srgbClr val="0E5E6E"/>
                </a:solidFill>
                <a:latin typeface="Helvetica"/>
              </a:rPr>
              <a:t>Demo Beat 1</a:t>
            </a:r>
          </a:p>
        </p:txBody>
      </p:sp>
      <p:sp>
        <p:nvSpPr>
          <p:cNvPr id="3" name="Rectangle 2"/>
          <p:cNvSpPr/>
          <p:nvPr/>
        </p:nvSpPr>
        <p:spPr>
          <a:xfrm>
            <a:off x="1188720" y="1280160"/>
            <a:ext cx="9814255" cy="4206240"/>
          </a:xfrm>
          <a:prstGeom prst="rect">
            <a:avLst/>
          </a:prstGeom>
          <a:solidFill>
            <a:srgbClr val="1A1A1A"/>
          </a:solidFill>
          <a:ln w="254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800" b="0" i="0">
                <a:solidFill>
                  <a:srgbClr val="FFFFFF"/>
                </a:solidFill>
                <a:latin typeface="Helvetica"/>
              </a:rPr>
              <a:t>[Recorded demo — Beat 1 — ~3 min]</a:t>
            </a:r>
          </a:p>
        </p:txBody>
      </p:sp>
      <p:sp>
        <p:nvSpPr>
          <p:cNvPr id="4" name="TextBox 3"/>
          <p:cNvSpPr txBox="1"/>
          <p:nvPr/>
        </p:nvSpPr>
        <p:spPr>
          <a:xfrm>
            <a:off x="1188720" y="5760720"/>
            <a:ext cx="9814255" cy="548640"/>
          </a:xfrm>
          <a:prstGeom prst="rect">
            <a:avLst/>
          </a:prstGeom>
          <a:noFill/>
        </p:spPr>
        <p:txBody>
          <a:bodyPr wrap="square">
            <a:spAutoFit/>
          </a:bodyPr>
          <a:lstStyle/>
          <a:p>
            <a:pPr algn="ctr"/>
            <a:r>
              <a:rPr sz="2200" b="0" i="1">
                <a:solidFill>
                  <a:srgbClr val="5A5A5A"/>
                </a:solidFill>
                <a:latin typeface="Helvetica"/>
              </a:rPr>
              <a:t>What is a valid offer?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362895" cy="1371600"/>
          </a:xfrm>
          <a:prstGeom prst="rect">
            <a:avLst/>
          </a:prstGeom>
          <a:noFill/>
        </p:spPr>
        <p:txBody>
          <a:bodyPr wrap="square" anchor="ctr">
            <a:spAutoFit/>
          </a:bodyPr>
          <a:lstStyle/>
          <a:p>
            <a:pPr algn="ctr"/>
            <a:r>
              <a:rPr sz="4800" b="1" i="0">
                <a:solidFill>
                  <a:srgbClr val="1A1A1A"/>
                </a:solidFill>
                <a:latin typeface="Helvetica"/>
              </a:rPr>
              <a:t>Tribal memory → Structured spec.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2895" cy="1371600"/>
          </a:xfrm>
          <a:prstGeom prst="rect">
            <a:avLst/>
          </a:prstGeom>
          <a:noFill/>
        </p:spPr>
        <p:txBody>
          <a:bodyPr wrap="square" anchor="ctr">
            <a:spAutoFit/>
          </a:bodyPr>
          <a:lstStyle/>
          <a:p>
            <a:pPr algn="ctr"/>
            <a:r>
              <a:rPr sz="4800" b="1" i="0">
                <a:solidFill>
                  <a:srgbClr val="1A1A1A"/>
                </a:solidFill>
                <a:latin typeface="Helvetica"/>
              </a:rPr>
              <a:t>How do we handle ambiguity?</a:t>
            </a:r>
          </a:p>
        </p:txBody>
      </p:sp>
      <p:sp>
        <p:nvSpPr>
          <p:cNvPr id="3" name="TextBox 2"/>
          <p:cNvSpPr txBox="1"/>
          <p:nvPr/>
        </p:nvSpPr>
        <p:spPr>
          <a:xfrm>
            <a:off x="1371600" y="4023360"/>
            <a:ext cx="9448495" cy="914400"/>
          </a:xfrm>
          <a:prstGeom prst="rect">
            <a:avLst/>
          </a:prstGeom>
          <a:noFill/>
        </p:spPr>
        <p:txBody>
          <a:bodyPr wrap="square">
            <a:spAutoFit/>
          </a:bodyPr>
          <a:lstStyle/>
          <a:p>
            <a:pPr algn="ctr"/>
            <a:r>
              <a:rPr sz="2200" b="0" i="1">
                <a:solidFill>
                  <a:srgbClr val="5A5A5A"/>
                </a:solidFill>
                <a:latin typeface="Helvetica"/>
              </a:rPr>
              <a:t>Real systems are messy. Watch where the human shows up in the loop.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457200"/>
          </a:xfrm>
          <a:prstGeom prst="rect">
            <a:avLst/>
          </a:prstGeom>
          <a:noFill/>
        </p:spPr>
        <p:txBody>
          <a:bodyPr wrap="square">
            <a:spAutoFit/>
          </a:bodyPr>
          <a:lstStyle/>
          <a:p>
            <a:r>
              <a:rPr sz="2000" b="1" i="0">
                <a:solidFill>
                  <a:srgbClr val="0E5E6E"/>
                </a:solidFill>
                <a:latin typeface="Helvetica"/>
              </a:rPr>
              <a:t>Demo Beat 2</a:t>
            </a:r>
          </a:p>
        </p:txBody>
      </p:sp>
      <p:sp>
        <p:nvSpPr>
          <p:cNvPr id="3" name="Rectangle 2"/>
          <p:cNvSpPr/>
          <p:nvPr/>
        </p:nvSpPr>
        <p:spPr>
          <a:xfrm>
            <a:off x="1188720" y="1280160"/>
            <a:ext cx="9814255" cy="4206240"/>
          </a:xfrm>
          <a:prstGeom prst="rect">
            <a:avLst/>
          </a:prstGeom>
          <a:solidFill>
            <a:srgbClr val="1A1A1A"/>
          </a:solidFill>
          <a:ln w="254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800" b="0" i="0">
                <a:solidFill>
                  <a:srgbClr val="FFFFFF"/>
                </a:solidFill>
                <a:latin typeface="Helvetica"/>
              </a:rPr>
              <a:t>[Recorded demo — Beat 2 — ~4 min]</a:t>
            </a:r>
          </a:p>
        </p:txBody>
      </p:sp>
      <p:sp>
        <p:nvSpPr>
          <p:cNvPr id="4" name="TextBox 3"/>
          <p:cNvSpPr txBox="1"/>
          <p:nvPr/>
        </p:nvSpPr>
        <p:spPr>
          <a:xfrm>
            <a:off x="1188720" y="5760720"/>
            <a:ext cx="9814255" cy="548640"/>
          </a:xfrm>
          <a:prstGeom prst="rect">
            <a:avLst/>
          </a:prstGeom>
          <a:noFill/>
        </p:spPr>
        <p:txBody>
          <a:bodyPr wrap="square">
            <a:spAutoFit/>
          </a:bodyPr>
          <a:lstStyle/>
          <a:p>
            <a:pPr algn="ctr"/>
            <a:r>
              <a:rPr sz="2200" b="0" i="1">
                <a:solidFill>
                  <a:srgbClr val="5A5A5A"/>
                </a:solidFill>
                <a:latin typeface="Helvetica"/>
              </a:rPr>
              <a:t>How do we handle ambiguity?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Roles mutate. They are not replaced.</a:t>
            </a:r>
          </a:p>
        </p:txBody>
      </p:sp>
      <p:sp>
        <p:nvSpPr>
          <p:cNvPr id="3" name="TextBox 2"/>
          <p:cNvSpPr txBox="1"/>
          <p:nvPr/>
        </p:nvSpPr>
        <p:spPr>
          <a:xfrm>
            <a:off x="548640" y="1188720"/>
            <a:ext cx="11064240" cy="457200"/>
          </a:xfrm>
          <a:prstGeom prst="rect">
            <a:avLst/>
          </a:prstGeom>
          <a:noFill/>
        </p:spPr>
        <p:txBody>
          <a:bodyPr wrap="square">
            <a:spAutoFit/>
          </a:bodyPr>
          <a:lstStyle/>
          <a:p>
            <a:r>
              <a:rPr sz="1800" b="0" i="1">
                <a:solidFill>
                  <a:srgbClr val="5A5A5A"/>
                </a:solidFill>
                <a:latin typeface="Helvetica"/>
              </a:rPr>
              <a:t>Four mutations that matter most in BFSI engineering.</a:t>
            </a:r>
          </a:p>
        </p:txBody>
      </p:sp>
      <p:graphicFrame>
        <p:nvGraphicFramePr>
          <p:cNvPr id="4" name="Table 3"/>
          <p:cNvGraphicFramePr>
            <a:graphicFrameLocks noGrp="1"/>
          </p:cNvGraphicFramePr>
          <p:nvPr/>
        </p:nvGraphicFramePr>
        <p:xfrm>
          <a:off x="1645920" y="2194560"/>
          <a:ext cx="8899855" cy="4023360"/>
        </p:xfrm>
        <a:graphic>
          <a:graphicData uri="http://schemas.openxmlformats.org/drawingml/2006/table">
            <a:tbl>
              <a:tblPr firstRow="1" bandRow="1">
                <a:tableStyleId>{5C22544A-7EE6-4342-B048-85BDC9FD1C3A}</a:tableStyleId>
              </a:tblPr>
              <a:tblGrid>
                <a:gridCol w="3657600"/>
                <a:gridCol w="5242255"/>
              </a:tblGrid>
              <a:tr h="804672">
                <a:tc>
                  <a:txBody>
                    <a:bodyPr/>
                    <a:lstStyle/>
                    <a:p>
                      <a:r>
                        <a:rPr b="1" sz="1800">
                          <a:solidFill>
                            <a:srgbClr val="FFFFFF"/>
                          </a:solidFill>
                          <a:latin typeface="Helvetica"/>
                        </a:rPr>
                        <a:t>Role today</a:t>
                      </a:r>
                    </a:p>
                  </a:txBody>
                  <a:tcPr anchor="ctr">
                    <a:solidFill>
                      <a:srgbClr val="0E5E6E"/>
                    </a:solidFill>
                  </a:tcPr>
                </a:tc>
                <a:tc>
                  <a:txBody>
                    <a:bodyPr/>
                    <a:lstStyle/>
                    <a:p>
                      <a:r>
                        <a:rPr b="1" sz="1800">
                          <a:solidFill>
                            <a:srgbClr val="FFFFFF"/>
                          </a:solidFill>
                          <a:latin typeface="Helvetica"/>
                        </a:rPr>
                        <a:t>Mutates to</a:t>
                      </a:r>
                    </a:p>
                  </a:txBody>
                  <a:tcPr anchor="ctr">
                    <a:solidFill>
                      <a:srgbClr val="0E5E6E"/>
                    </a:solidFill>
                  </a:tcPr>
                </a:tc>
              </a:tr>
              <a:tr h="804672">
                <a:tc>
                  <a:txBody>
                    <a:bodyPr/>
                    <a:lstStyle/>
                    <a:p>
                      <a:r>
                        <a:rPr sz="1700">
                          <a:solidFill>
                            <a:srgbClr val="1A1A1A"/>
                          </a:solidFill>
                          <a:latin typeface="Helvetica"/>
                        </a:rPr>
                        <a:t>Product Manager</a:t>
                      </a:r>
                    </a:p>
                  </a:txBody>
                  <a:tcPr anchor="ctr"/>
                </a:tc>
                <a:tc>
                  <a:txBody>
                    <a:bodyPr/>
                    <a:lstStyle/>
                    <a:p>
                      <a:r>
                        <a:rPr sz="1700">
                          <a:solidFill>
                            <a:srgbClr val="1A1A1A"/>
                          </a:solidFill>
                          <a:latin typeface="Helvetica"/>
                        </a:rPr>
                        <a:t>AI workflow orchestrator</a:t>
                      </a:r>
                    </a:p>
                  </a:txBody>
                  <a:tcPr anchor="ctr"/>
                </a:tc>
              </a:tr>
              <a:tr h="804672">
                <a:tc>
                  <a:txBody>
                    <a:bodyPr/>
                    <a:lstStyle/>
                    <a:p>
                      <a:r>
                        <a:rPr sz="1700">
                          <a:solidFill>
                            <a:srgbClr val="1A1A1A"/>
                          </a:solidFill>
                          <a:latin typeface="Helvetica"/>
                        </a:rPr>
                        <a:t>Software Engineer</a:t>
                      </a:r>
                    </a:p>
                  </a:txBody>
                  <a:tcPr anchor="ctr"/>
                </a:tc>
                <a:tc>
                  <a:txBody>
                    <a:bodyPr/>
                    <a:lstStyle/>
                    <a:p>
                      <a:r>
                        <a:rPr sz="1700">
                          <a:solidFill>
                            <a:srgbClr val="1A1A1A"/>
                          </a:solidFill>
                          <a:latin typeface="Helvetica"/>
                        </a:rPr>
                        <a:t>Spec author + agent supervisor</a:t>
                      </a:r>
                    </a:p>
                  </a:txBody>
                  <a:tcPr anchor="ctr"/>
                </a:tc>
              </a:tr>
              <a:tr h="804672">
                <a:tc>
                  <a:txBody>
                    <a:bodyPr/>
                    <a:lstStyle/>
                    <a:p>
                      <a:r>
                        <a:rPr sz="1700">
                          <a:solidFill>
                            <a:srgbClr val="1A1A1A"/>
                          </a:solidFill>
                          <a:latin typeface="Helvetica"/>
                        </a:rPr>
                        <a:t>Reviewer</a:t>
                      </a:r>
                    </a:p>
                  </a:txBody>
                  <a:tcPr anchor="ctr"/>
                </a:tc>
                <a:tc>
                  <a:txBody>
                    <a:bodyPr/>
                    <a:lstStyle/>
                    <a:p>
                      <a:r>
                        <a:rPr sz="1700">
                          <a:solidFill>
                            <a:srgbClr val="1A1A1A"/>
                          </a:solidFill>
                          <a:latin typeface="Helvetica"/>
                        </a:rPr>
                        <a:t>Validator of agent reasoning</a:t>
                      </a:r>
                    </a:p>
                  </a:txBody>
                  <a:tcPr anchor="ctr"/>
                </a:tc>
              </a:tr>
              <a:tr h="804672">
                <a:tc>
                  <a:txBody>
                    <a:bodyPr/>
                    <a:lstStyle/>
                    <a:p>
                      <a:r>
                        <a:rPr sz="1700">
                          <a:solidFill>
                            <a:srgbClr val="1A1A1A"/>
                          </a:solidFill>
                          <a:latin typeface="Helvetica"/>
                        </a:rPr>
                        <a:t>Designer</a:t>
                      </a:r>
                    </a:p>
                  </a:txBody>
                  <a:tcPr anchor="ctr"/>
                </a:tc>
                <a:tc>
                  <a:txBody>
                    <a:bodyPr/>
                    <a:lstStyle/>
                    <a:p>
                      <a:r>
                        <a:rPr sz="1700">
                          <a:solidFill>
                            <a:srgbClr val="1A1A1A"/>
                          </a:solidFill>
                          <a:latin typeface="Helvetica"/>
                        </a:rPr>
                        <a:t>Communication architect for human–agent collaboration</a:t>
                      </a:r>
                    </a:p>
                  </a:txBody>
                  <a:tcPr anchor="ct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2895" cy="1371600"/>
          </a:xfrm>
          <a:prstGeom prst="rect">
            <a:avLst/>
          </a:prstGeom>
          <a:noFill/>
        </p:spPr>
        <p:txBody>
          <a:bodyPr wrap="square" anchor="ctr">
            <a:spAutoFit/>
          </a:bodyPr>
          <a:lstStyle/>
          <a:p>
            <a:pPr algn="ctr"/>
            <a:r>
              <a:rPr sz="4800" b="1" i="0">
                <a:solidFill>
                  <a:srgbClr val="1A1A1A"/>
                </a:solidFill>
                <a:latin typeface="Helvetica"/>
              </a:rPr>
              <a:t>What is allowed to reach production?</a:t>
            </a:r>
          </a:p>
        </p:txBody>
      </p:sp>
      <p:sp>
        <p:nvSpPr>
          <p:cNvPr id="3" name="TextBox 2"/>
          <p:cNvSpPr txBox="1"/>
          <p:nvPr/>
        </p:nvSpPr>
        <p:spPr>
          <a:xfrm>
            <a:off x="1371600" y="4023360"/>
            <a:ext cx="9448495" cy="914400"/>
          </a:xfrm>
          <a:prstGeom prst="rect">
            <a:avLst/>
          </a:prstGeom>
          <a:noFill/>
        </p:spPr>
        <p:txBody>
          <a:bodyPr wrap="square">
            <a:spAutoFit/>
          </a:bodyPr>
          <a:lstStyle/>
          <a:p>
            <a:pPr algn="ctr"/>
            <a:r>
              <a:rPr sz="2200" b="0" i="1">
                <a:solidFill>
                  <a:srgbClr val="5A5A5A"/>
                </a:solidFill>
                <a:latin typeface="Helvetica"/>
              </a:rPr>
              <a:t>This is the question your CRO asks.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457200"/>
          </a:xfrm>
          <a:prstGeom prst="rect">
            <a:avLst/>
          </a:prstGeom>
          <a:noFill/>
        </p:spPr>
        <p:txBody>
          <a:bodyPr wrap="square">
            <a:spAutoFit/>
          </a:bodyPr>
          <a:lstStyle/>
          <a:p>
            <a:r>
              <a:rPr sz="2000" b="1" i="0">
                <a:solidFill>
                  <a:srgbClr val="0E5E6E"/>
                </a:solidFill>
                <a:latin typeface="Helvetica"/>
              </a:rPr>
              <a:t>Demo Beat 3</a:t>
            </a:r>
          </a:p>
        </p:txBody>
      </p:sp>
      <p:sp>
        <p:nvSpPr>
          <p:cNvPr id="3" name="Rectangle 2"/>
          <p:cNvSpPr/>
          <p:nvPr/>
        </p:nvSpPr>
        <p:spPr>
          <a:xfrm>
            <a:off x="1188720" y="1280160"/>
            <a:ext cx="9814255" cy="4206240"/>
          </a:xfrm>
          <a:prstGeom prst="rect">
            <a:avLst/>
          </a:prstGeom>
          <a:solidFill>
            <a:srgbClr val="1A1A1A"/>
          </a:solidFill>
          <a:ln w="254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800" b="0" i="0">
                <a:solidFill>
                  <a:srgbClr val="FFFFFF"/>
                </a:solidFill>
                <a:latin typeface="Helvetica"/>
              </a:rPr>
              <a:t>[Recorded demo — Beat 3 — ~3 min]</a:t>
            </a:r>
          </a:p>
        </p:txBody>
      </p:sp>
      <p:sp>
        <p:nvSpPr>
          <p:cNvPr id="4" name="TextBox 3"/>
          <p:cNvSpPr txBox="1"/>
          <p:nvPr/>
        </p:nvSpPr>
        <p:spPr>
          <a:xfrm>
            <a:off x="1188720" y="5760720"/>
            <a:ext cx="9814255" cy="548640"/>
          </a:xfrm>
          <a:prstGeom prst="rect">
            <a:avLst/>
          </a:prstGeom>
          <a:noFill/>
        </p:spPr>
        <p:txBody>
          <a:bodyPr wrap="square">
            <a:spAutoFit/>
          </a:bodyPr>
          <a:lstStyle/>
          <a:p>
            <a:pPr algn="ctr"/>
            <a:r>
              <a:rPr sz="2200" b="0" i="1">
                <a:solidFill>
                  <a:srgbClr val="5A5A5A"/>
                </a:solidFill>
                <a:latin typeface="Helvetica"/>
              </a:rPr>
              <a:t>What is allowed to reach production?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362895" cy="1371600"/>
          </a:xfrm>
          <a:prstGeom prst="rect">
            <a:avLst/>
          </a:prstGeom>
          <a:noFill/>
        </p:spPr>
        <p:txBody>
          <a:bodyPr wrap="square" anchor="ctr">
            <a:spAutoFit/>
          </a:bodyPr>
          <a:lstStyle/>
          <a:p>
            <a:pPr algn="ctr"/>
            <a:r>
              <a:rPr sz="4800" b="1" i="0">
                <a:solidFill>
                  <a:srgbClr val="1A1A1A"/>
                </a:solidFill>
                <a:latin typeface="Helvetica"/>
              </a:rPr>
              <a:t>The encoding executes itself.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2560320"/>
            <a:ext cx="10728655" cy="1737360"/>
          </a:xfrm>
          <a:prstGeom prst="rect">
            <a:avLst/>
          </a:prstGeom>
          <a:noFill/>
        </p:spPr>
        <p:txBody>
          <a:bodyPr wrap="square" anchor="ctr">
            <a:spAutoFit/>
          </a:bodyPr>
          <a:lstStyle/>
          <a:p>
            <a:pPr algn="ctr"/>
            <a:r>
              <a:rPr sz="5400" b="0" i="1">
                <a:solidFill>
                  <a:srgbClr val="FFFFFF"/>
                </a:solidFill>
                <a:latin typeface="Helvetica"/>
              </a:rPr>
              <a:t>How do you tell your CRO this is safe?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git-ape — what it is, what it is not.</a:t>
            </a:r>
          </a:p>
        </p:txBody>
      </p:sp>
      <p:sp>
        <p:nvSpPr>
          <p:cNvPr id="3" name="Rounded Rectangle 2"/>
          <p:cNvSpPr/>
          <p:nvPr/>
        </p:nvSpPr>
        <p:spPr>
          <a:xfrm>
            <a:off x="731520" y="1554480"/>
            <a:ext cx="5212080" cy="4572000"/>
          </a:xfrm>
          <a:prstGeom prst="roundRect">
            <a:avLst/>
          </a:prstGeom>
          <a:solidFill>
            <a:srgbClr val="FFFFFF"/>
          </a:solidFill>
          <a:ln w="254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005840" y="1737360"/>
            <a:ext cx="4663440" cy="502920"/>
          </a:xfrm>
          <a:prstGeom prst="rect">
            <a:avLst/>
          </a:prstGeom>
          <a:noFill/>
        </p:spPr>
        <p:txBody>
          <a:bodyPr wrap="square">
            <a:spAutoFit/>
          </a:bodyPr>
          <a:lstStyle/>
          <a:p>
            <a:r>
              <a:rPr sz="2200" b="1" i="0">
                <a:solidFill>
                  <a:srgbClr val="0E5E6E"/>
                </a:solidFill>
                <a:latin typeface="Helvetica"/>
              </a:rPr>
              <a:t>It is:</a:t>
            </a:r>
          </a:p>
        </p:txBody>
      </p:sp>
      <p:sp>
        <p:nvSpPr>
          <p:cNvPr id="5" name="TextBox 4"/>
          <p:cNvSpPr txBox="1"/>
          <p:nvPr/>
        </p:nvSpPr>
        <p:spPr>
          <a:xfrm>
            <a:off x="1005840" y="2377440"/>
            <a:ext cx="4663440" cy="3657600"/>
          </a:xfrm>
          <a:prstGeom prst="rect">
            <a:avLst/>
          </a:prstGeom>
          <a:noFill/>
        </p:spPr>
        <p:txBody>
          <a:bodyPr wrap="square">
            <a:spAutoFit/>
          </a:bodyPr>
          <a:lstStyle/>
          <a:p>
            <a:pPr marL="228600" indent="-228600">
              <a:lnSpc>
                <a:spcPts val="3000"/>
              </a:lnSpc>
              <a:buChar char="•"/>
            </a:pPr>
            <a:r>
              <a:rPr sz="1800" b="0" i="0">
                <a:solidFill>
                  <a:srgbClr val="1A1A1A"/>
                </a:solidFill>
                <a:latin typeface="Helvetica"/>
              </a:rPr>
              <a:t>A policy-as-code substrate for agentic delivery</a:t>
            </a:r>
          </a:p>
          <a:p>
            <a:pPr marL="228600" indent="-228600">
              <a:lnSpc>
                <a:spcPts val="3000"/>
              </a:lnSpc>
              <a:buChar char="•"/>
            </a:pPr>
            <a:r>
              <a:rPr sz="1800" b="0" i="0">
                <a:solidFill>
                  <a:srgbClr val="1A1A1A"/>
                </a:solidFill>
                <a:latin typeface="Helvetica"/>
              </a:rPr>
              <a:t>Open source on GitHub</a:t>
            </a:r>
          </a:p>
          <a:p>
            <a:pPr marL="228600" indent="-228600">
              <a:lnSpc>
                <a:spcPts val="3000"/>
              </a:lnSpc>
              <a:buChar char="•"/>
            </a:pPr>
            <a:r>
              <a:rPr sz="1800" b="0" i="0">
                <a:solidFill>
                  <a:srgbClr val="1A1A1A"/>
                </a:solidFill>
                <a:latin typeface="Helvetica"/>
              </a:rPr>
              <a:t>Composes with your Git, CI, cloud, and approval systems</a:t>
            </a:r>
          </a:p>
          <a:p>
            <a:pPr marL="228600" indent="-228600">
              <a:lnSpc>
                <a:spcPts val="3000"/>
              </a:lnSpc>
              <a:buChar char="•"/>
            </a:pPr>
            <a:r>
              <a:rPr sz="1800" b="0" i="0">
                <a:solidFill>
                  <a:srgbClr val="1A1A1A"/>
                </a:solidFill>
                <a:latin typeface="Helvetica"/>
              </a:rPr>
              <a:t>A place to encode your RBI controls once and run them everywhere</a:t>
            </a:r>
          </a:p>
          <a:p>
            <a:pPr>
              <a:lnSpc>
                <a:spcPts val="3000"/>
              </a:lnSpc>
            </a:pPr>
            <a:r>
              <a:rPr sz="1800" b="0" i="0">
                <a:solidFill>
                  <a:srgbClr val="1A1A1A"/>
                </a:solidFill>
                <a:latin typeface="Helvetica"/>
              </a:rPr>
              <a:t/>
            </a:r>
          </a:p>
        </p:txBody>
      </p:sp>
      <p:sp>
        <p:nvSpPr>
          <p:cNvPr id="6" name="Rounded Rectangle 5"/>
          <p:cNvSpPr/>
          <p:nvPr/>
        </p:nvSpPr>
        <p:spPr>
          <a:xfrm>
            <a:off x="6245352" y="1554480"/>
            <a:ext cx="5212080" cy="4572000"/>
          </a:xfrm>
          <a:prstGeom prst="roundRect">
            <a:avLst/>
          </a:prstGeom>
          <a:solidFill>
            <a:srgbClr val="FFFFFF"/>
          </a:solidFill>
          <a:ln w="12700">
            <a:solidFill>
              <a:srgbClr val="D0D0D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19672" y="1737360"/>
            <a:ext cx="4663440" cy="502920"/>
          </a:xfrm>
          <a:prstGeom prst="rect">
            <a:avLst/>
          </a:prstGeom>
          <a:noFill/>
        </p:spPr>
        <p:txBody>
          <a:bodyPr wrap="square">
            <a:spAutoFit/>
          </a:bodyPr>
          <a:lstStyle/>
          <a:p>
            <a:r>
              <a:rPr sz="2200" b="1" i="0">
                <a:solidFill>
                  <a:srgbClr val="5A5A5A"/>
                </a:solidFill>
                <a:latin typeface="Helvetica"/>
              </a:rPr>
              <a:t>It is not:</a:t>
            </a:r>
          </a:p>
        </p:txBody>
      </p:sp>
      <p:sp>
        <p:nvSpPr>
          <p:cNvPr id="8" name="TextBox 7"/>
          <p:cNvSpPr txBox="1"/>
          <p:nvPr/>
        </p:nvSpPr>
        <p:spPr>
          <a:xfrm>
            <a:off x="6519672" y="2377440"/>
            <a:ext cx="4663440" cy="3657600"/>
          </a:xfrm>
          <a:prstGeom prst="rect">
            <a:avLst/>
          </a:prstGeom>
          <a:noFill/>
        </p:spPr>
        <p:txBody>
          <a:bodyPr wrap="square">
            <a:spAutoFit/>
          </a:bodyPr>
          <a:lstStyle/>
          <a:p>
            <a:pPr marL="228600" indent="-228600">
              <a:lnSpc>
                <a:spcPts val="3000"/>
              </a:lnSpc>
              <a:buChar char="•"/>
            </a:pPr>
            <a:r>
              <a:rPr sz="1800" b="0" i="0">
                <a:solidFill>
                  <a:srgbClr val="1A1A1A"/>
                </a:solidFill>
                <a:latin typeface="Helvetica"/>
              </a:rPr>
              <a:t>A replacement for your platform</a:t>
            </a:r>
          </a:p>
          <a:p>
            <a:pPr marL="228600" indent="-228600">
              <a:lnSpc>
                <a:spcPts val="3000"/>
              </a:lnSpc>
              <a:buChar char="•"/>
            </a:pPr>
            <a:r>
              <a:rPr sz="1800" b="0" i="0">
                <a:solidFill>
                  <a:srgbClr val="1A1A1A"/>
                </a:solidFill>
                <a:latin typeface="Helvetica"/>
              </a:rPr>
              <a:t>A product I am selling you today</a:t>
            </a:r>
          </a:p>
          <a:p>
            <a:pPr marL="228600" indent="-228600">
              <a:lnSpc>
                <a:spcPts val="3000"/>
              </a:lnSpc>
              <a:buChar char="•"/>
            </a:pPr>
            <a:r>
              <a:rPr sz="1800" b="0" i="0">
                <a:solidFill>
                  <a:srgbClr val="1A1A1A"/>
                </a:solidFill>
                <a:latin typeface="Helvetica"/>
              </a:rPr>
              <a:t>Mandatory — AIDLC works without it; git-ape just makes it auditable</a:t>
            </a:r>
          </a:p>
          <a:p>
            <a:pPr>
              <a:lnSpc>
                <a:spcPts val="3000"/>
              </a:lnSpc>
            </a:pPr>
            <a:r>
              <a:rPr sz="1800" b="0" i="0">
                <a:solidFill>
                  <a:srgbClr val="1A1A1A"/>
                </a:solidFill>
                <a:latin typeface="Helvetica"/>
              </a:rPr>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RBI / SEBI controls — encoded once.</a:t>
            </a:r>
          </a:p>
        </p:txBody>
      </p:sp>
      <p:graphicFrame>
        <p:nvGraphicFramePr>
          <p:cNvPr id="3" name="Table 2"/>
          <p:cNvGraphicFramePr>
            <a:graphicFrameLocks noGrp="1"/>
          </p:cNvGraphicFramePr>
          <p:nvPr/>
        </p:nvGraphicFramePr>
        <p:xfrm>
          <a:off x="548640" y="1554480"/>
          <a:ext cx="11064240" cy="4389120"/>
        </p:xfrm>
        <a:graphic>
          <a:graphicData uri="http://schemas.openxmlformats.org/drawingml/2006/table">
            <a:tbl>
              <a:tblPr firstRow="1" bandRow="1">
                <a:tableStyleId>{5C22544A-7EE6-4342-B048-85BDC9FD1C3A}</a:tableStyleId>
              </a:tblPr>
              <a:tblGrid>
                <a:gridCol w="3108960"/>
                <a:gridCol w="3657600"/>
                <a:gridCol w="4297680"/>
              </a:tblGrid>
              <a:tr h="1097280">
                <a:tc>
                  <a:txBody>
                    <a:bodyPr/>
                    <a:lstStyle/>
                    <a:p>
                      <a:r>
                        <a:rPr b="1" sz="1600">
                          <a:solidFill>
                            <a:srgbClr val="FFFFFF"/>
                          </a:solidFill>
                          <a:latin typeface="Helvetica"/>
                        </a:rPr>
                        <a:t>Control category</a:t>
                      </a:r>
                    </a:p>
                  </a:txBody>
                  <a:tcPr anchor="ctr">
                    <a:solidFill>
                      <a:srgbClr val="0E5E6E"/>
                    </a:solidFill>
                  </a:tcPr>
                </a:tc>
                <a:tc>
                  <a:txBody>
                    <a:bodyPr/>
                    <a:lstStyle/>
                    <a:p>
                      <a:r>
                        <a:rPr b="1" sz="1600">
                          <a:solidFill>
                            <a:srgbClr val="FFFFFF"/>
                          </a:solidFill>
                          <a:latin typeface="Helvetica"/>
                        </a:rPr>
                        <a:t>Enforced today as</a:t>
                      </a:r>
                    </a:p>
                  </a:txBody>
                  <a:tcPr anchor="ctr">
                    <a:solidFill>
                      <a:srgbClr val="0E5E6E"/>
                    </a:solidFill>
                  </a:tcPr>
                </a:tc>
                <a:tc>
                  <a:txBody>
                    <a:bodyPr/>
                    <a:lstStyle/>
                    <a:p>
                      <a:r>
                        <a:rPr b="1" sz="1600">
                          <a:solidFill>
                            <a:srgbClr val="FFFFFF"/>
                          </a:solidFill>
                          <a:latin typeface="Helvetica"/>
                        </a:rPr>
                        <a:t>Encoded as policy-as-code</a:t>
                      </a:r>
                    </a:p>
                  </a:txBody>
                  <a:tcPr anchor="ctr">
                    <a:solidFill>
                      <a:srgbClr val="0E5E6E"/>
                    </a:solidFill>
                  </a:tcPr>
                </a:tc>
              </a:tr>
              <a:tr h="1097280">
                <a:tc>
                  <a:txBody>
                    <a:bodyPr/>
                    <a:lstStyle/>
                    <a:p>
                      <a:r>
                        <a:rPr sz="1500">
                          <a:solidFill>
                            <a:srgbClr val="1A1A1A"/>
                          </a:solidFill>
                          <a:latin typeface="Helvetica"/>
                        </a:rPr>
                        <a:t>Audit trail</a:t>
                      </a:r>
                    </a:p>
                  </a:txBody>
                  <a:tcPr anchor="ctr"/>
                </a:tc>
                <a:tc>
                  <a:txBody>
                    <a:bodyPr/>
                    <a:lstStyle/>
                    <a:p>
                      <a:r>
                        <a:rPr sz="1500">
                          <a:solidFill>
                            <a:srgbClr val="1A1A1A"/>
                          </a:solidFill>
                          <a:latin typeface="Helvetica"/>
                        </a:rPr>
                        <a:t>Manual log review, post-incident</a:t>
                      </a:r>
                    </a:p>
                  </a:txBody>
                  <a:tcPr anchor="ctr"/>
                </a:tc>
                <a:tc>
                  <a:txBody>
                    <a:bodyPr/>
                    <a:lstStyle/>
                    <a:p>
                      <a:r>
                        <a:rPr sz="1500">
                          <a:solidFill>
                            <a:srgbClr val="1A1A1A"/>
                          </a:solidFill>
                          <a:latin typeface="Helvetica"/>
                        </a:rPr>
                        <a:t>Immutable trace emitted on every agent action</a:t>
                      </a:r>
                    </a:p>
                  </a:txBody>
                  <a:tcPr anchor="ctr"/>
                </a:tc>
              </a:tr>
              <a:tr h="1097280">
                <a:tc>
                  <a:txBody>
                    <a:bodyPr/>
                    <a:lstStyle/>
                    <a:p>
                      <a:r>
                        <a:rPr sz="1500">
                          <a:solidFill>
                            <a:srgbClr val="1A1A1A"/>
                          </a:solidFill>
                          <a:latin typeface="Helvetica"/>
                        </a:rPr>
                        <a:t>Change approval</a:t>
                      </a:r>
                    </a:p>
                  </a:txBody>
                  <a:tcPr anchor="ctr"/>
                </a:tc>
                <a:tc>
                  <a:txBody>
                    <a:bodyPr/>
                    <a:lstStyle/>
                    <a:p>
                      <a:r>
                        <a:rPr sz="1500">
                          <a:solidFill>
                            <a:srgbClr val="1A1A1A"/>
                          </a:solidFill>
                          <a:latin typeface="Helvetica"/>
                        </a:rPr>
                        <a:t>CAB ticket, sign-off chain</a:t>
                      </a:r>
                    </a:p>
                  </a:txBody>
                  <a:tcPr anchor="ctr"/>
                </a:tc>
                <a:tc>
                  <a:txBody>
                    <a:bodyPr/>
                    <a:lstStyle/>
                    <a:p>
                      <a:r>
                        <a:rPr sz="1500">
                          <a:solidFill>
                            <a:srgbClr val="1A1A1A"/>
                          </a:solidFill>
                          <a:latin typeface="Helvetica"/>
                        </a:rPr>
                        <a:t>Approval policy on PR; auto-block on violation</a:t>
                      </a:r>
                    </a:p>
                  </a:txBody>
                  <a:tcPr anchor="ctr"/>
                </a:tc>
              </a:tr>
              <a:tr h="1097280">
                <a:tc>
                  <a:txBody>
                    <a:bodyPr/>
                    <a:lstStyle/>
                    <a:p>
                      <a:r>
                        <a:rPr sz="1500">
                          <a:solidFill>
                            <a:srgbClr val="1A1A1A"/>
                          </a:solidFill>
                          <a:latin typeface="Helvetica"/>
                        </a:rPr>
                        <a:t>Data residency</a:t>
                      </a:r>
                    </a:p>
                  </a:txBody>
                  <a:tcPr anchor="ctr"/>
                </a:tc>
                <a:tc>
                  <a:txBody>
                    <a:bodyPr/>
                    <a:lstStyle/>
                    <a:p>
                      <a:r>
                        <a:rPr sz="1500">
                          <a:solidFill>
                            <a:srgbClr val="1A1A1A"/>
                          </a:solidFill>
                          <a:latin typeface="Helvetica"/>
                        </a:rPr>
                        <a:t>Architecture review board</a:t>
                      </a:r>
                    </a:p>
                  </a:txBody>
                  <a:tcPr anchor="ctr"/>
                </a:tc>
                <a:tc>
                  <a:txBody>
                    <a:bodyPr/>
                    <a:lstStyle/>
                    <a:p>
                      <a:r>
                        <a:rPr sz="1500">
                          <a:solidFill>
                            <a:srgbClr val="1A1A1A"/>
                          </a:solidFill>
                          <a:latin typeface="Helvetica"/>
                        </a:rPr>
                        <a:t>Region constraint declared in deploy spec; enforced at CI gate</a:t>
                      </a:r>
                    </a:p>
                  </a:txBody>
                  <a:tcPr anchor="ctr"/>
                </a:tc>
              </a:tr>
            </a:tbl>
          </a:graphicData>
        </a:graphic>
      </p:graphicFrame>
      <p:sp>
        <p:nvSpPr>
          <p:cNvPr id="4" name="TextBox 3"/>
          <p:cNvSpPr txBox="1"/>
          <p:nvPr/>
        </p:nvSpPr>
        <p:spPr>
          <a:xfrm>
            <a:off x="548640" y="6035040"/>
            <a:ext cx="11064240" cy="457200"/>
          </a:xfrm>
          <a:prstGeom prst="rect">
            <a:avLst/>
          </a:prstGeom>
          <a:noFill/>
        </p:spPr>
        <p:txBody>
          <a:bodyPr wrap="square">
            <a:spAutoFit/>
          </a:bodyPr>
          <a:lstStyle/>
          <a:p>
            <a:pPr algn="ctr"/>
            <a:r>
              <a:rPr sz="1600" b="0" i="1">
                <a:solidFill>
                  <a:srgbClr val="5A5A5A"/>
                </a:solidFill>
                <a:latin typeface="Helvetica"/>
              </a:rPr>
              <a:t>Same control. New shape: encoded once, enforced on every change.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AIDLC Workshop.</a:t>
            </a:r>
          </a:p>
        </p:txBody>
      </p:sp>
      <p:sp>
        <p:nvSpPr>
          <p:cNvPr id="3" name="Rounded Rectangle 2"/>
          <p:cNvSpPr/>
          <p:nvPr/>
        </p:nvSpPr>
        <p:spPr>
          <a:xfrm>
            <a:off x="1508760" y="1737360"/>
            <a:ext cx="9144000" cy="3200400"/>
          </a:xfrm>
          <a:prstGeom prst="roundRect">
            <a:avLst/>
          </a:prstGeom>
          <a:solidFill>
            <a:srgbClr val="FFFFFF"/>
          </a:solidFill>
          <a:ln w="381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4000" b="1" i="0">
                <a:solidFill>
                  <a:srgbClr val="0E5E6E"/>
                </a:solidFill>
                <a:latin typeface="Helvetica"/>
              </a:rPr>
              <a:t>AIDLC Workshop</a:t>
            </a:r>
          </a:p>
        </p:txBody>
      </p:sp>
      <p:sp>
        <p:nvSpPr>
          <p:cNvPr id="4" name="TextBox 3"/>
          <p:cNvSpPr txBox="1"/>
          <p:nvPr/>
        </p:nvSpPr>
        <p:spPr>
          <a:xfrm>
            <a:off x="731520" y="5212080"/>
            <a:ext cx="10728655" cy="548640"/>
          </a:xfrm>
          <a:prstGeom prst="rect">
            <a:avLst/>
          </a:prstGeom>
          <a:noFill/>
        </p:spPr>
        <p:txBody>
          <a:bodyPr wrap="square">
            <a:spAutoFit/>
          </a:bodyPr>
          <a:lstStyle/>
          <a:p>
            <a:pPr algn="ctr"/>
            <a:r>
              <a:rPr sz="2200" b="0" i="0">
                <a:solidFill>
                  <a:srgbClr val="1A1A1A"/>
                </a:solidFill>
                <a:latin typeface="Helvetica"/>
              </a:rPr>
              <a:t>5 days. One real use case. You leave with a working prototype.</a:t>
            </a:r>
          </a:p>
        </p:txBody>
      </p:sp>
      <p:sp>
        <p:nvSpPr>
          <p:cNvPr id="5" name="TextBox 4"/>
          <p:cNvSpPr txBox="1"/>
          <p:nvPr/>
        </p:nvSpPr>
        <p:spPr>
          <a:xfrm>
            <a:off x="731520" y="5852160"/>
            <a:ext cx="10728655" cy="457200"/>
          </a:xfrm>
          <a:prstGeom prst="rect">
            <a:avLst/>
          </a:prstGeom>
          <a:noFill/>
        </p:spPr>
        <p:txBody>
          <a:bodyPr wrap="square">
            <a:spAutoFit/>
          </a:bodyPr>
          <a:lstStyle/>
          <a:p>
            <a:pPr algn="ctr"/>
            <a:r>
              <a:rPr sz="1800" b="0" i="1">
                <a:solidFill>
                  <a:srgbClr val="5A5A5A"/>
                </a:solidFill>
                <a:latin typeface="Helvetica"/>
              </a:rPr>
              <a:t>Bring three engineers, one PM, one risk officer.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The next 90 days.</a:t>
            </a:r>
          </a:p>
        </p:txBody>
      </p:sp>
      <p:sp>
        <p:nvSpPr>
          <p:cNvPr id="3" name="Chevron 2"/>
          <p:cNvSpPr/>
          <p:nvPr/>
        </p:nvSpPr>
        <p:spPr>
          <a:xfrm>
            <a:off x="548640" y="2560320"/>
            <a:ext cx="2491740" cy="237744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Days 1–5</a:t>
            </a:r>
            <a:br/>
            <a:r>
              <a:t>Workshop</a:t>
            </a:r>
          </a:p>
        </p:txBody>
      </p:sp>
      <p:sp>
        <p:nvSpPr>
          <p:cNvPr id="4" name="Chevron 3"/>
          <p:cNvSpPr/>
          <p:nvPr/>
        </p:nvSpPr>
        <p:spPr>
          <a:xfrm>
            <a:off x="3314700" y="2560320"/>
            <a:ext cx="2491740" cy="237744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Days 5–30</a:t>
            </a:r>
            <a:br/>
            <a:r>
              <a:t>Iterate</a:t>
            </a:r>
          </a:p>
        </p:txBody>
      </p:sp>
      <p:sp>
        <p:nvSpPr>
          <p:cNvPr id="5" name="Chevron 4"/>
          <p:cNvSpPr/>
          <p:nvPr/>
        </p:nvSpPr>
        <p:spPr>
          <a:xfrm>
            <a:off x="6080760" y="2560320"/>
            <a:ext cx="2491740" cy="237744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Days 30–60</a:t>
            </a:r>
            <a:br/>
            <a:r>
              <a:t>git-ape pilot</a:t>
            </a:r>
          </a:p>
        </p:txBody>
      </p:sp>
      <p:sp>
        <p:nvSpPr>
          <p:cNvPr id="6" name="Chevron 5"/>
          <p:cNvSpPr/>
          <p:nvPr/>
        </p:nvSpPr>
        <p:spPr>
          <a:xfrm>
            <a:off x="8846820" y="2560320"/>
            <a:ext cx="2491740" cy="237744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8F8FC"/>
                </a:solidFill>
                <a:latin typeface="Segoe UI"/>
              </a:rPr>
              <a:t>Days 60–90</a:t>
            </a:r>
            <a:br/>
            <a:r>
              <a:t>First prod agent</a:t>
            </a:r>
            <a:br/>
            <a:r>
              <a:t>under encoded policy</a:t>
            </a:r>
          </a:p>
        </p:txBody>
      </p:sp>
      <p:sp>
        <p:nvSpPr>
          <p:cNvPr id="7" name="TextBox 6"/>
          <p:cNvSpPr txBox="1"/>
          <p:nvPr/>
        </p:nvSpPr>
        <p:spPr>
          <a:xfrm>
            <a:off x="548640" y="5486400"/>
            <a:ext cx="11064240" cy="640080"/>
          </a:xfrm>
          <a:prstGeom prst="rect">
            <a:avLst/>
          </a:prstGeom>
          <a:noFill/>
        </p:spPr>
        <p:txBody>
          <a:bodyPr wrap="square">
            <a:spAutoFit/>
          </a:bodyPr>
          <a:lstStyle/>
          <a:p>
            <a:pPr algn="ctr"/>
            <a:r>
              <a:rPr sz="1800" b="0" i="1">
                <a:solidFill>
                  <a:srgbClr val="5A5A5A"/>
                </a:solidFill>
                <a:latin typeface="Helvetica"/>
              </a:rPr>
              <a:t>One use case. One team. One encoded policy. Then scale.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Two ways to engage.</a:t>
            </a:r>
          </a:p>
        </p:txBody>
      </p:sp>
      <p:sp>
        <p:nvSpPr>
          <p:cNvPr id="3" name="Rectangle 2"/>
          <p:cNvSpPr/>
          <p:nvPr/>
        </p:nvSpPr>
        <p:spPr>
          <a:xfrm>
            <a:off x="2286000" y="2103120"/>
            <a:ext cx="2743200" cy="2743200"/>
          </a:xfrm>
          <a:prstGeom prst="rect">
            <a:avLst/>
          </a:prstGeom>
          <a:solidFill>
            <a:srgbClr val="FFFFFF"/>
          </a:solidFill>
          <a:ln w="254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400" b="0" i="0">
                <a:solidFill>
                  <a:srgbClr val="5A5A5A"/>
                </a:solidFill>
                <a:latin typeface="Helvetica"/>
              </a:rPr>
              <a:t>QR placeholder</a:t>
            </a:r>
          </a:p>
        </p:txBody>
      </p:sp>
      <p:sp>
        <p:nvSpPr>
          <p:cNvPr id="4" name="TextBox 3"/>
          <p:cNvSpPr txBox="1"/>
          <p:nvPr/>
        </p:nvSpPr>
        <p:spPr>
          <a:xfrm>
            <a:off x="1828800" y="5029200"/>
            <a:ext cx="3657600" cy="548640"/>
          </a:xfrm>
          <a:prstGeom prst="rect">
            <a:avLst/>
          </a:prstGeom>
          <a:noFill/>
        </p:spPr>
        <p:txBody>
          <a:bodyPr wrap="square">
            <a:spAutoFit/>
          </a:bodyPr>
          <a:lstStyle/>
          <a:p>
            <a:pPr algn="ctr"/>
            <a:r>
              <a:rPr sz="2000" b="1" i="0">
                <a:solidFill>
                  <a:srgbClr val="1A1A1A"/>
                </a:solidFill>
                <a:latin typeface="Helvetica"/>
              </a:rPr>
              <a:t>AIDLC Workshop</a:t>
            </a:r>
          </a:p>
        </p:txBody>
      </p:sp>
      <p:sp>
        <p:nvSpPr>
          <p:cNvPr id="5" name="TextBox 4"/>
          <p:cNvSpPr txBox="1"/>
          <p:nvPr/>
        </p:nvSpPr>
        <p:spPr>
          <a:xfrm>
            <a:off x="1828800" y="5577840"/>
            <a:ext cx="3657600" cy="457200"/>
          </a:xfrm>
          <a:prstGeom prst="rect">
            <a:avLst/>
          </a:prstGeom>
          <a:noFill/>
        </p:spPr>
        <p:txBody>
          <a:bodyPr wrap="square">
            <a:spAutoFit/>
          </a:bodyPr>
          <a:lstStyle/>
          <a:p>
            <a:pPr algn="ctr"/>
            <a:r>
              <a:rPr sz="1600" b="0" i="1">
                <a:solidFill>
                  <a:srgbClr val="5A5A5A"/>
                </a:solidFill>
                <a:latin typeface="Helvetica"/>
              </a:rPr>
              <a:t>Workshop request form</a:t>
            </a:r>
          </a:p>
        </p:txBody>
      </p:sp>
      <p:sp>
        <p:nvSpPr>
          <p:cNvPr id="6" name="Rectangle 5"/>
          <p:cNvSpPr/>
          <p:nvPr/>
        </p:nvSpPr>
        <p:spPr>
          <a:xfrm>
            <a:off x="7159752" y="2103120"/>
            <a:ext cx="2743200" cy="2743200"/>
          </a:xfrm>
          <a:prstGeom prst="rect">
            <a:avLst/>
          </a:prstGeom>
          <a:solidFill>
            <a:srgbClr val="FFFFFF"/>
          </a:solidFill>
          <a:ln w="254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400" b="0" i="0">
                <a:solidFill>
                  <a:srgbClr val="5A5A5A"/>
                </a:solidFill>
                <a:latin typeface="Helvetica"/>
              </a:rPr>
              <a:t>QR placeholder</a:t>
            </a:r>
          </a:p>
        </p:txBody>
      </p:sp>
      <p:sp>
        <p:nvSpPr>
          <p:cNvPr id="7" name="TextBox 6"/>
          <p:cNvSpPr txBox="1"/>
          <p:nvPr/>
        </p:nvSpPr>
        <p:spPr>
          <a:xfrm>
            <a:off x="6702552" y="5029200"/>
            <a:ext cx="3657600" cy="548640"/>
          </a:xfrm>
          <a:prstGeom prst="rect">
            <a:avLst/>
          </a:prstGeom>
          <a:noFill/>
        </p:spPr>
        <p:txBody>
          <a:bodyPr wrap="square">
            <a:spAutoFit/>
          </a:bodyPr>
          <a:lstStyle/>
          <a:p>
            <a:pPr algn="ctr"/>
            <a:r>
              <a:rPr sz="2000" b="1" i="0">
                <a:solidFill>
                  <a:srgbClr val="1A1A1A"/>
                </a:solidFill>
                <a:latin typeface="Helvetica"/>
              </a:rPr>
              <a:t>git-ape</a:t>
            </a:r>
          </a:p>
        </p:txBody>
      </p:sp>
      <p:sp>
        <p:nvSpPr>
          <p:cNvPr id="8" name="TextBox 7"/>
          <p:cNvSpPr txBox="1"/>
          <p:nvPr/>
        </p:nvSpPr>
        <p:spPr>
          <a:xfrm>
            <a:off x="6702552" y="5577840"/>
            <a:ext cx="3657600" cy="457200"/>
          </a:xfrm>
          <a:prstGeom prst="rect">
            <a:avLst/>
          </a:prstGeom>
          <a:noFill/>
        </p:spPr>
        <p:txBody>
          <a:bodyPr wrap="square">
            <a:spAutoFit/>
          </a:bodyPr>
          <a:lstStyle/>
          <a:p>
            <a:pPr algn="ctr"/>
            <a:r>
              <a:rPr sz="1600" b="0" i="1">
                <a:solidFill>
                  <a:srgbClr val="5A5A5A"/>
                </a:solidFill>
                <a:latin typeface="Helvetica"/>
              </a:rPr>
              <a:t>github.com/azure/git-ape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a:spAutoFit/>
          </a:bodyPr>
          <a:lstStyle/>
          <a:p>
            <a:r>
              <a:rPr sz="3600" b="1" i="0">
                <a:solidFill>
                  <a:srgbClr val="1A1A1A"/>
                </a:solidFill>
                <a:latin typeface="Helvetica"/>
              </a:rPr>
              <a:t>Where to measure.</a:t>
            </a:r>
          </a:p>
        </p:txBody>
      </p:sp>
      <p:sp>
        <p:nvSpPr>
          <p:cNvPr id="3" name="Rounded Rectangle 2"/>
          <p:cNvSpPr/>
          <p:nvPr/>
        </p:nvSpPr>
        <p:spPr>
          <a:xfrm>
            <a:off x="731520" y="1554480"/>
            <a:ext cx="5212080" cy="2011680"/>
          </a:xfrm>
          <a:prstGeom prst="roundRect">
            <a:avLst/>
          </a:prstGeom>
          <a:solidFill>
            <a:srgbClr val="FFFFFF"/>
          </a:solidFill>
          <a:ln w="127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000" b="0" i="0">
                <a:solidFill>
                  <a:srgbClr val="1A1A1A"/>
                </a:solidFill>
                <a:latin typeface="Helvetica"/>
              </a:rPr>
              <a:t>Speed / Innovation</a:t>
            </a:r>
          </a:p>
          <a:p>
            <a:r>
              <a:rPr sz="2000" b="0" i="0">
                <a:solidFill>
                  <a:srgbClr val="1A1A1A"/>
                </a:solidFill>
                <a:latin typeface="Helvetica"/>
              </a:rPr>
              <a:t>(DORA metrics)</a:t>
            </a:r>
          </a:p>
        </p:txBody>
      </p:sp>
      <p:sp>
        <p:nvSpPr>
          <p:cNvPr id="4" name="Rounded Rectangle 3"/>
          <p:cNvSpPr/>
          <p:nvPr/>
        </p:nvSpPr>
        <p:spPr>
          <a:xfrm>
            <a:off x="6245352" y="1554480"/>
            <a:ext cx="5212080" cy="2011680"/>
          </a:xfrm>
          <a:prstGeom prst="roundRect">
            <a:avLst/>
          </a:prstGeom>
          <a:solidFill>
            <a:srgbClr val="FFFFFF"/>
          </a:solidFill>
          <a:ln w="127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000" b="0" i="0">
                <a:solidFill>
                  <a:srgbClr val="1A1A1A"/>
                </a:solidFill>
                <a:latin typeface="Helvetica"/>
              </a:rPr>
              <a:t>Trust / Quality</a:t>
            </a:r>
          </a:p>
        </p:txBody>
      </p:sp>
      <p:sp>
        <p:nvSpPr>
          <p:cNvPr id="5" name="Rounded Rectangle 4"/>
          <p:cNvSpPr/>
          <p:nvPr/>
        </p:nvSpPr>
        <p:spPr>
          <a:xfrm>
            <a:off x="731520" y="3703320"/>
            <a:ext cx="5212080" cy="2011680"/>
          </a:xfrm>
          <a:prstGeom prst="roundRect">
            <a:avLst/>
          </a:prstGeom>
          <a:solidFill>
            <a:srgbClr val="FFFFFF"/>
          </a:solidFill>
          <a:ln w="127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000" b="0" i="0">
                <a:solidFill>
                  <a:srgbClr val="1A1A1A"/>
                </a:solidFill>
                <a:latin typeface="Helvetica"/>
              </a:rPr>
              <a:t>Talent / Happiness</a:t>
            </a:r>
          </a:p>
        </p:txBody>
      </p:sp>
      <p:sp>
        <p:nvSpPr>
          <p:cNvPr id="6" name="Rounded Rectangle 5"/>
          <p:cNvSpPr/>
          <p:nvPr/>
        </p:nvSpPr>
        <p:spPr>
          <a:xfrm>
            <a:off x="6245352" y="3703320"/>
            <a:ext cx="5212080" cy="2011680"/>
          </a:xfrm>
          <a:prstGeom prst="roundRect">
            <a:avLst/>
          </a:prstGeom>
          <a:solidFill>
            <a:srgbClr val="FFFFFF"/>
          </a:solidFill>
          <a:ln w="127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2000" b="0" i="0">
                <a:solidFill>
                  <a:srgbClr val="1A1A1A"/>
                </a:solidFill>
                <a:latin typeface="Helvetica"/>
              </a:rPr>
              <a:t>Collaboration at scale</a:t>
            </a:r>
          </a:p>
        </p:txBody>
      </p:sp>
      <p:sp>
        <p:nvSpPr>
          <p:cNvPr id="7" name="TextBox 6"/>
          <p:cNvSpPr txBox="1"/>
          <p:nvPr/>
        </p:nvSpPr>
        <p:spPr>
          <a:xfrm>
            <a:off x="548640" y="5943600"/>
            <a:ext cx="11064240" cy="457200"/>
          </a:xfrm>
          <a:prstGeom prst="rect">
            <a:avLst/>
          </a:prstGeom>
          <a:noFill/>
        </p:spPr>
        <p:txBody>
          <a:bodyPr wrap="square">
            <a:spAutoFit/>
          </a:bodyPr>
          <a:lstStyle/>
          <a:p>
            <a:pPr algn="ctr"/>
            <a:r>
              <a:rPr sz="1600" b="0" i="1">
                <a:solidFill>
                  <a:srgbClr val="5A5A5A"/>
                </a:solidFill>
                <a:latin typeface="Helvetica"/>
              </a:rPr>
              <a:t>DORA is the floor. The other three are where the real story lives.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31520" y="1828800"/>
            <a:ext cx="10728655" cy="2560320"/>
          </a:xfrm>
          <a:prstGeom prst="rect">
            <a:avLst/>
          </a:prstGeom>
          <a:noFill/>
        </p:spPr>
        <p:txBody>
          <a:bodyPr wrap="square" anchor="ctr">
            <a:spAutoFit/>
          </a:bodyPr>
          <a:lstStyle/>
          <a:p>
            <a:pPr algn="ctr"/>
            <a:r>
              <a:rPr sz="3600" b="0" i="1">
                <a:solidFill>
                  <a:srgbClr val="FFFFFF"/>
                </a:solidFill>
                <a:latin typeface="Georgia"/>
              </a:rPr>
              <a:t>"My developers are three times faster with Copilot. My CISO is three times more nervous."</a:t>
            </a:r>
          </a:p>
        </p:txBody>
      </p:sp>
      <p:sp>
        <p:nvSpPr>
          <p:cNvPr id="3" name="TextBox 2"/>
          <p:cNvSpPr txBox="1"/>
          <p:nvPr/>
        </p:nvSpPr>
        <p:spPr>
          <a:xfrm>
            <a:off x="731520" y="4754880"/>
            <a:ext cx="10728655" cy="548640"/>
          </a:xfrm>
          <a:prstGeom prst="rect">
            <a:avLst/>
          </a:prstGeom>
          <a:noFill/>
        </p:spPr>
        <p:txBody>
          <a:bodyPr wrap="square">
            <a:spAutoFit/>
          </a:bodyPr>
          <a:lstStyle/>
          <a:p>
            <a:pPr algn="ctr"/>
            <a:r>
              <a:rPr sz="2200" b="0" i="0">
                <a:solidFill>
                  <a:srgbClr val="B0B0B0"/>
                </a:solidFill>
                <a:latin typeface="Helvetica"/>
              </a:rPr>
              <a:t>We started here.</a:t>
            </a:r>
          </a:p>
        </p:txBody>
      </p:sp>
      <p:sp>
        <p:nvSpPr>
          <p:cNvPr id="4" name="TextBox 3"/>
          <p:cNvSpPr txBox="1"/>
          <p:nvPr/>
        </p:nvSpPr>
        <p:spPr>
          <a:xfrm>
            <a:off x="731520" y="5394960"/>
            <a:ext cx="10728655" cy="548640"/>
          </a:xfrm>
          <a:prstGeom prst="rect">
            <a:avLst/>
          </a:prstGeom>
          <a:noFill/>
        </p:spPr>
        <p:txBody>
          <a:bodyPr wrap="square">
            <a:spAutoFit/>
          </a:bodyPr>
          <a:lstStyle/>
          <a:p>
            <a:pPr algn="ctr"/>
            <a:r>
              <a:rPr sz="2200" b="0" i="0">
                <a:solidFill>
                  <a:srgbClr val="B0B0B0"/>
                </a:solidFill>
                <a:latin typeface="Helvetica"/>
              </a:rPr>
              <a:t>We are not going back. The shape of the work has changed.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548640"/>
          </a:xfrm>
          <a:prstGeom prst="rect">
            <a:avLst/>
          </a:prstGeom>
          <a:noFill/>
        </p:spPr>
        <p:txBody>
          <a:bodyPr wrap="square">
            <a:spAutoFit/>
          </a:bodyPr>
          <a:lstStyle/>
          <a:p>
            <a:r>
              <a:rPr sz="2800" b="1" i="0">
                <a:solidFill>
                  <a:srgbClr val="1A1A1A"/>
                </a:solidFill>
                <a:latin typeface="Helvetica"/>
              </a:rPr>
              <a:t>Shailesh Kumar Mishra</a:t>
            </a:r>
          </a:p>
        </p:txBody>
      </p:sp>
      <p:sp>
        <p:nvSpPr>
          <p:cNvPr id="3" name="TextBox 2"/>
          <p:cNvSpPr txBox="1"/>
          <p:nvPr/>
        </p:nvSpPr>
        <p:spPr>
          <a:xfrm>
            <a:off x="548640" y="1005840"/>
            <a:ext cx="11064240" cy="365760"/>
          </a:xfrm>
          <a:prstGeom prst="rect">
            <a:avLst/>
          </a:prstGeom>
          <a:noFill/>
        </p:spPr>
        <p:txBody>
          <a:bodyPr wrap="square">
            <a:spAutoFit/>
          </a:bodyPr>
          <a:lstStyle/>
          <a:p>
            <a:r>
              <a:rPr sz="1600" b="0" i="0">
                <a:solidFill>
                  <a:srgbClr val="5A5A5A"/>
                </a:solidFill>
                <a:latin typeface="Helvetica"/>
              </a:rPr>
              <a:t>Lead, git-ape · AIDLC</a:t>
            </a:r>
          </a:p>
        </p:txBody>
      </p:sp>
      <p:sp>
        <p:nvSpPr>
          <p:cNvPr id="4" name="Rectangle 3"/>
          <p:cNvSpPr/>
          <p:nvPr/>
        </p:nvSpPr>
        <p:spPr>
          <a:xfrm>
            <a:off x="3657600" y="2286000"/>
            <a:ext cx="1828800" cy="1828800"/>
          </a:xfrm>
          <a:prstGeom prst="rect">
            <a:avLst/>
          </a:prstGeom>
          <a:solidFill>
            <a:srgbClr val="FFFFFF"/>
          </a:solidFill>
          <a:ln w="254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200" b="0" i="0">
                <a:solidFill>
                  <a:srgbClr val="5A5A5A"/>
                </a:solidFill>
                <a:latin typeface="Helvetica"/>
              </a:rPr>
              <a:t>QR placeholder</a:t>
            </a:r>
          </a:p>
        </p:txBody>
      </p:sp>
      <p:sp>
        <p:nvSpPr>
          <p:cNvPr id="5" name="TextBox 4"/>
          <p:cNvSpPr txBox="1"/>
          <p:nvPr/>
        </p:nvSpPr>
        <p:spPr>
          <a:xfrm>
            <a:off x="3200400" y="4297680"/>
            <a:ext cx="2743200" cy="457200"/>
          </a:xfrm>
          <a:prstGeom prst="rect">
            <a:avLst/>
          </a:prstGeom>
          <a:noFill/>
        </p:spPr>
        <p:txBody>
          <a:bodyPr wrap="square">
            <a:spAutoFit/>
          </a:bodyPr>
          <a:lstStyle/>
          <a:p>
            <a:pPr algn="ctr"/>
            <a:r>
              <a:rPr sz="1400" b="0" i="0">
                <a:solidFill>
                  <a:srgbClr val="1A1A1A"/>
                </a:solidFill>
                <a:latin typeface="Helvetica"/>
              </a:rPr>
              <a:t>Workshop request</a:t>
            </a:r>
          </a:p>
        </p:txBody>
      </p:sp>
      <p:sp>
        <p:nvSpPr>
          <p:cNvPr id="6" name="Rectangle 5"/>
          <p:cNvSpPr/>
          <p:nvPr/>
        </p:nvSpPr>
        <p:spPr>
          <a:xfrm>
            <a:off x="6702552" y="2286000"/>
            <a:ext cx="1828800" cy="1828800"/>
          </a:xfrm>
          <a:prstGeom prst="rect">
            <a:avLst/>
          </a:prstGeom>
          <a:solidFill>
            <a:srgbClr val="FFFFFF"/>
          </a:solidFill>
          <a:ln w="25400">
            <a:solidFill>
              <a:srgbClr val="0E5E6E"/>
            </a:solidFill>
          </a:ln>
        </p:spPr>
        <p:style>
          <a:lnRef idx="1">
            <a:schemeClr val="accent1"/>
          </a:lnRef>
          <a:fillRef idx="3">
            <a:schemeClr val="accent1"/>
          </a:fillRef>
          <a:effectRef idx="0">
            <a:schemeClr val="accent1"/>
          </a:effectRef>
          <a:fontRef idx="minor">
            <a:schemeClr val="lt1"/>
          </a:fontRef>
        </p:style>
        <p:txBody>
          <a:bodyPr rtlCol="0" anchor="ctr" wrap="square"/>
          <a:lstStyle/>
          <a:p>
            <a:pPr algn="ctr"/>
            <a:r>
              <a:rPr sz="1200" b="0" i="0">
                <a:solidFill>
                  <a:srgbClr val="5A5A5A"/>
                </a:solidFill>
                <a:latin typeface="Helvetica"/>
              </a:rPr>
              <a:t>QR placeholder</a:t>
            </a:r>
          </a:p>
        </p:txBody>
      </p:sp>
      <p:sp>
        <p:nvSpPr>
          <p:cNvPr id="7" name="TextBox 6"/>
          <p:cNvSpPr txBox="1"/>
          <p:nvPr/>
        </p:nvSpPr>
        <p:spPr>
          <a:xfrm>
            <a:off x="6245352" y="4297680"/>
            <a:ext cx="2743200" cy="457200"/>
          </a:xfrm>
          <a:prstGeom prst="rect">
            <a:avLst/>
          </a:prstGeom>
          <a:noFill/>
        </p:spPr>
        <p:txBody>
          <a:bodyPr wrap="square">
            <a:spAutoFit/>
          </a:bodyPr>
          <a:lstStyle/>
          <a:p>
            <a:pPr algn="ctr"/>
            <a:r>
              <a:rPr sz="1400" b="0" i="0">
                <a:solidFill>
                  <a:srgbClr val="1A1A1A"/>
                </a:solidFill>
                <a:latin typeface="Helvetica"/>
              </a:rPr>
              <a:t>github.com/azure/git-ape</a:t>
            </a:r>
          </a:p>
        </p:txBody>
      </p:sp>
      <p:sp>
        <p:nvSpPr>
          <p:cNvPr id="8" name="TextBox 7"/>
          <p:cNvSpPr txBox="1"/>
          <p:nvPr/>
        </p:nvSpPr>
        <p:spPr>
          <a:xfrm>
            <a:off x="548640" y="5303520"/>
            <a:ext cx="11064240" cy="731520"/>
          </a:xfrm>
          <a:prstGeom prst="rect">
            <a:avLst/>
          </a:prstGeom>
          <a:noFill/>
        </p:spPr>
        <p:txBody>
          <a:bodyPr wrap="square">
            <a:spAutoFit/>
          </a:bodyPr>
          <a:lstStyle/>
          <a:p>
            <a:pPr algn="ctr"/>
            <a:r>
              <a:rPr sz="2400" b="1" i="0">
                <a:solidFill>
                  <a:srgbClr val="0E5E6E"/>
                </a:solidFill>
                <a:latin typeface="Helvetica"/>
              </a:rPr>
              <a:t>Find me right after. The customer panel starts in 2 minutes.</a:t>
            </a:r>
          </a:p>
        </p:txBody>
      </p:sp>
      <p:sp>
        <p:nvSpPr>
          <p:cNvPr id="9" name="TextBox 8"/>
          <p:cNvSpPr txBox="1"/>
          <p:nvPr/>
        </p:nvSpPr>
        <p:spPr>
          <a:xfrm>
            <a:off x="548640" y="6126480"/>
            <a:ext cx="11064240" cy="365760"/>
          </a:xfrm>
          <a:prstGeom prst="rect">
            <a:avLst/>
          </a:prstGeom>
          <a:noFill/>
        </p:spPr>
        <p:txBody>
          <a:bodyPr wrap="square">
            <a:spAutoFit/>
          </a:bodyPr>
          <a:lstStyle/>
          <a:p>
            <a:pPr algn="ctr"/>
            <a:r>
              <a:rPr sz="1800" b="0" i="1">
                <a:solidFill>
                  <a:srgbClr val="5A5A5A"/>
                </a:solidFill>
                <a:latin typeface="Helvetic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AI-Powered Apps Faster: Idea to Production with Agentic DevOps</dc:title>
  <dc:subject>AIDLC, Agentic SDLC, git-ape</dc:subject>
  <dc:creator>Shailesh Kumar Mishra</dc:creator>
  <cp:keywords>AIDLC, agentic, BFSI, RBI, policy-as-code, git-ape, Copilot</cp:keywords>
  <dc:description>generated using python-pptx</dc:description>
  <cp:lastModifiedBy>Steve Canny</cp:lastModifiedBy>
  <cp:revision>1</cp:revision>
  <dcterms:created xsi:type="dcterms:W3CDTF">2013-01-27T09:14:16Z</dcterms:created>
  <dcterms:modified xsi:type="dcterms:W3CDTF">2013-01-27T09:15:58Z</dcterms:modified>
  <cp:category>Keynote</cp:category>
</cp:coreProperties>
</file>